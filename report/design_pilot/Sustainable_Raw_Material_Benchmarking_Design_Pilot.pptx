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93268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BENCHMARK REPORT   ·  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" y="1298448"/>
            <a:ext cx="1371600" cy="0"/>
          </a:xfrm>
          <a:prstGeom prst="line">
            <a:avLst/>
          </a:prstGeom>
          <a:ln w="1778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88720" y="1700784"/>
            <a:ext cx="6583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0" i="0">
                <a:solidFill>
                  <a:srgbClr val="14181B"/>
                </a:solidFill>
                <a:latin typeface="Segoe UI Light"/>
              </a:rPr>
              <a:t>SUSTAINABLE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0" i="0">
                <a:solidFill>
                  <a:srgbClr val="14181B"/>
                </a:solidFill>
                <a:latin typeface="Segoe UI Light"/>
              </a:rPr>
              <a:t>RAW MATERIAL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0" i="0">
                <a:solidFill>
                  <a:srgbClr val="14181B"/>
                </a:solidFill>
                <a:latin typeface="Segoe UI Light"/>
              </a:rPr>
              <a:t>BENCHMARKING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12463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2E5A87"/>
                </a:solidFill>
                <a:latin typeface="Segoe UI Semilight"/>
              </a:rPr>
              <a:t>Best Practices, Decision Framework &amp; Analytics 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443984"/>
            <a:ext cx="5623560" cy="78638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4443984"/>
            <a:ext cx="32004" cy="786384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6464" y="4608576"/>
            <a:ext cx="5166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A decision method demonstrated on synthetic data.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>
                <a:solidFill>
                  <a:srgbClr val="3D474D"/>
                </a:solidFill>
                <a:latin typeface="Segoe UI"/>
              </a:rPr>
              <a:t>No supplier, company or market data is used or implied.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742432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ELIGIBILITY</a:t>
            </a:r>
            <a:r>
              <a:rPr sz="900" b="0" i="0">
                <a:solidFill>
                  <a:srgbClr val="D4DADE"/>
                </a:solidFill>
                <a:latin typeface="Segoe UI"/>
              </a:rPr>
              <a:t>     ·     </a:t>
            </a:r>
            <a:r>
              <a:rPr sz="900" b="0" i="0">
                <a:solidFill>
                  <a:srgbClr val="14181B"/>
                </a:solidFill>
                <a:latin typeface="Segoe UI Semibold"/>
              </a:rPr>
              <a:t>COMPARABILITY</a:t>
            </a:r>
            <a:r>
              <a:rPr sz="900" b="0" i="0">
                <a:solidFill>
                  <a:srgbClr val="D4DADE"/>
                </a:solidFill>
                <a:latin typeface="Segoe UI"/>
              </a:rPr>
              <a:t>     ·     </a:t>
            </a:r>
            <a:r>
              <a:rPr sz="900" b="0" i="0">
                <a:solidFill>
                  <a:srgbClr val="14181B"/>
                </a:solidFill>
                <a:latin typeface="Segoe UI Semibold"/>
              </a:rPr>
              <a:t>TRADE-OFF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720" y="5632704"/>
            <a:ext cx="5623560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641080" y="1700784"/>
            <a:ext cx="40233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8572" y="1700784"/>
            <a:ext cx="402336" cy="402336"/>
          </a:xfrm>
          <a:prstGeom prst="rect">
            <a:avLst/>
          </a:prstGeom>
          <a:solidFill>
            <a:srgbClr val="7FB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56063" y="1700784"/>
            <a:ext cx="402336" cy="402336"/>
          </a:xfrm>
          <a:prstGeom prst="rect">
            <a:avLst/>
          </a:prstGeom>
          <a:solidFill>
            <a:srgbClr val="D2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63555" y="1700784"/>
            <a:ext cx="402336" cy="402336"/>
          </a:xfrm>
          <a:prstGeom prst="rect">
            <a:avLst/>
          </a:prstGeom>
          <a:solidFill>
            <a:srgbClr val="E6B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671048" y="1700784"/>
            <a:ext cx="402336" cy="402336"/>
          </a:xfrm>
          <a:prstGeom prst="rect">
            <a:avLst/>
          </a:prstGeom>
          <a:solidFill>
            <a:srgbClr val="F2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1080" y="2208276"/>
            <a:ext cx="40233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8572" y="2208276"/>
            <a:ext cx="402336" cy="402336"/>
          </a:xfrm>
          <a:prstGeom prst="rect">
            <a:avLst/>
          </a:prstGeom>
          <a:solidFill>
            <a:srgbClr val="7FB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56063" y="2208276"/>
            <a:ext cx="402336" cy="402336"/>
          </a:xfrm>
          <a:prstGeom prst="rect">
            <a:avLst/>
          </a:prstGeom>
          <a:solidFill>
            <a:srgbClr val="D48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63555" y="2208276"/>
            <a:ext cx="402336" cy="402336"/>
          </a:xfrm>
          <a:prstGeom prst="rect">
            <a:avLst/>
          </a:prstGeom>
          <a:solidFill>
            <a:srgbClr val="D2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71048" y="2208276"/>
            <a:ext cx="402336" cy="402336"/>
          </a:xfrm>
          <a:prstGeom prst="rect">
            <a:avLst/>
          </a:prstGeom>
          <a:solidFill>
            <a:srgbClr val="E6B4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41080" y="2715768"/>
            <a:ext cx="40233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8572" y="2715768"/>
            <a:ext cx="402336" cy="402336"/>
          </a:xfrm>
          <a:prstGeom prst="rect">
            <a:avLst/>
          </a:prstGeom>
          <a:solidFill>
            <a:srgbClr val="F2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56063" y="2715768"/>
            <a:ext cx="402336" cy="402336"/>
          </a:xfrm>
          <a:prstGeom prst="rect">
            <a:avLst/>
          </a:prstGeom>
          <a:solidFill>
            <a:srgbClr val="A8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63555" y="2715768"/>
            <a:ext cx="402336" cy="402336"/>
          </a:xfrm>
          <a:prstGeom prst="rect">
            <a:avLst/>
          </a:prstGeom>
          <a:solidFill>
            <a:srgbClr val="D48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71048" y="2715768"/>
            <a:ext cx="402336" cy="402336"/>
          </a:xfrm>
          <a:prstGeom prst="rect">
            <a:avLst/>
          </a:prstGeom>
          <a:solidFill>
            <a:srgbClr val="D2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1080" y="3223260"/>
            <a:ext cx="40233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8572" y="3223260"/>
            <a:ext cx="402336" cy="402336"/>
          </a:xfrm>
          <a:prstGeom prst="rect">
            <a:avLst/>
          </a:prstGeom>
          <a:solidFill>
            <a:srgbClr val="7FB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56063" y="3223260"/>
            <a:ext cx="402336" cy="402336"/>
          </a:xfrm>
          <a:prstGeom prst="rect">
            <a:avLst/>
          </a:prstGeom>
          <a:solidFill>
            <a:srgbClr val="D2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63555" y="3223260"/>
            <a:ext cx="402336" cy="402336"/>
          </a:xfrm>
          <a:prstGeom prst="rect">
            <a:avLst/>
          </a:prstGeom>
          <a:solidFill>
            <a:srgbClr val="A8C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671048" y="3223260"/>
            <a:ext cx="402336" cy="402336"/>
          </a:xfrm>
          <a:prstGeom prst="rect">
            <a:avLst/>
          </a:prstGeom>
          <a:solidFill>
            <a:srgbClr val="F2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1080" y="3730752"/>
            <a:ext cx="40233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8572" y="3730752"/>
            <a:ext cx="402336" cy="402336"/>
          </a:xfrm>
          <a:prstGeom prst="rect">
            <a:avLst/>
          </a:prstGeom>
          <a:solidFill>
            <a:srgbClr val="D2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56063" y="3730752"/>
            <a:ext cx="402336" cy="402336"/>
          </a:xfrm>
          <a:prstGeom prst="rect">
            <a:avLst/>
          </a:prstGeom>
          <a:solidFill>
            <a:srgbClr val="F2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63555" y="3730752"/>
            <a:ext cx="40233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71048" y="3730752"/>
            <a:ext cx="402336" cy="402336"/>
          </a:xfrm>
          <a:prstGeom prst="rect">
            <a:avLst/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41080" y="440283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800" b="0" i="0">
                <a:solidFill>
                  <a:srgbClr val="3D474D"/>
                </a:solidFill>
                <a:latin typeface="Segoe UI Semibold"/>
              </a:rPr>
              <a:t>25 material alternatives  ·  five benchmark cases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800" b="0" i="0">
                <a:solidFill>
                  <a:srgbClr val="6E7B82"/>
                </a:solidFill>
                <a:latin typeface="Segoe UI"/>
              </a:rPr>
              <a:t>green improves on cost, red deteriorates  ·  synthetic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61447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B82"/>
                </a:solidFill>
                <a:latin typeface="Segoe UI"/>
              </a:rPr>
              <a:t>Sustainable Raw Material Benchmarking  ·  Design pilot  ·  v0.1  ·  Csaba Bakay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  THE MANAGEMENT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No raw material is universally sustainable — a defensible decision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proves eligibility, then comparability, then shows the trade-off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Sourcing decisions fail in three specific ways. The answer is not a better score; it is a sequence that makes each failure mode visible before the next one is judged.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GHG Protocol Product Life Cycle Accounting and Reporting Standard (WRI/WBCSD, 2011), §1.5 and Appendix A  ·  European Commission JRC, Environmental and economic assessment of plastic waste recycling, JRC132067 (2023).  The three failure modes are a project synthesis of these sources.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432304"/>
            <a:ext cx="3241548" cy="288950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432304"/>
            <a:ext cx="3241548" cy="32004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7066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FD2E4"/>
                </a:solidFill>
                <a:latin typeface="Segoe UI Light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090672"/>
            <a:ext cx="26929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4181B"/>
                </a:solidFill>
                <a:latin typeface="Segoe UI Semibold"/>
              </a:rPr>
              <a:t>ELIGIBILITY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364992"/>
            <a:ext cx="26929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3D474D"/>
                </a:solidFill>
                <a:latin typeface="Segoe UI Semilight"/>
              </a:rPr>
              <a:t>Can this alternative be considered at all?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7552" y="3858768"/>
            <a:ext cx="2692908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87552" y="4041648"/>
            <a:ext cx="68580" cy="68580"/>
          </a:xfrm>
          <a:prstGeom prst="rect">
            <a:avLst/>
          </a:prstGeom>
          <a:solidFill>
            <a:srgbClr val="B3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2144" y="3986784"/>
            <a:ext cx="25283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B3372C"/>
                </a:solidFill>
                <a:latin typeface="Segoe UI Semibold"/>
              </a:rPr>
              <a:t>Failure   </a:t>
            </a:r>
            <a:r>
              <a:rPr sz="900" b="0" i="0">
                <a:solidFill>
                  <a:srgbClr val="3D474D"/>
                </a:solidFill>
                <a:latin typeface="Segoe UI"/>
              </a:rPr>
              <a:t>An option is compared that cannot legally or technically be bought.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" y="4645152"/>
            <a:ext cx="68580" cy="68580"/>
          </a:xfrm>
          <a:prstGeom prst="rect">
            <a:avLst/>
          </a:prstGeom>
          <a:solidFill>
            <a:srgbClr val="3E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2144" y="4590288"/>
            <a:ext cx="25283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3E8F63"/>
                </a:solidFill>
                <a:latin typeface="Segoe UI Semibold"/>
              </a:rPr>
              <a:t>Control   </a:t>
            </a:r>
            <a:r>
              <a:rPr sz="900" b="0" i="0">
                <a:solidFill>
                  <a:srgbClr val="3D474D"/>
                </a:solidFill>
                <a:latin typeface="Segoe UI"/>
              </a:rPr>
              <a:t>Screen on true constraints first — and keep what was screened out visible.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20" y="3675888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A3AFB6"/>
                </a:solidFill>
                <a:latin typeface="Segoe UI Light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75073" y="2432304"/>
            <a:ext cx="3241548" cy="288950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75073" y="2432304"/>
            <a:ext cx="3241548" cy="32004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9393" y="27066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FD2E4"/>
                </a:solidFill>
                <a:latin typeface="Segoe UI Light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49393" y="3090672"/>
            <a:ext cx="26929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4181B"/>
                </a:solidFill>
                <a:latin typeface="Segoe UI Semibold"/>
              </a:rPr>
              <a:t>COMPARABILITY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9393" y="3364992"/>
            <a:ext cx="26929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3D474D"/>
                </a:solidFill>
                <a:latin typeface="Segoe UI Semilight"/>
              </a:rPr>
              <a:t>Were these numbers ever comparable?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49393" y="3858768"/>
            <a:ext cx="2692908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749393" y="4041648"/>
            <a:ext cx="68580" cy="68580"/>
          </a:xfrm>
          <a:prstGeom prst="rect">
            <a:avLst/>
          </a:prstGeom>
          <a:solidFill>
            <a:srgbClr val="B3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3985" y="3986784"/>
            <a:ext cx="25283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B3372C"/>
                </a:solidFill>
                <a:latin typeface="Segoe UI Semibold"/>
              </a:rPr>
              <a:t>Failure   </a:t>
            </a:r>
            <a:r>
              <a:rPr sz="900" b="0" i="0">
                <a:solidFill>
                  <a:srgbClr val="3D474D"/>
                </a:solidFill>
                <a:latin typeface="Segoe UI"/>
              </a:rPr>
              <a:t>Two figures are compared that were never calculated on the same basis.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49393" y="4645152"/>
            <a:ext cx="68580" cy="68580"/>
          </a:xfrm>
          <a:prstGeom prst="rect">
            <a:avLst/>
          </a:prstGeom>
          <a:solidFill>
            <a:srgbClr val="3E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13985" y="4590288"/>
            <a:ext cx="25283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3E8F63"/>
                </a:solidFill>
                <a:latin typeface="Segoe UI Semibold"/>
              </a:rPr>
              <a:t>Control   </a:t>
            </a:r>
            <a:r>
              <a:rPr sz="900" b="0" i="0">
                <a:solidFill>
                  <a:srgbClr val="3D474D"/>
                </a:solidFill>
                <a:latin typeface="Segoe UI"/>
              </a:rPr>
              <a:t>Prove equivalent function, boundary, allocation, period and assurance.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08061" y="3675888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A3AFB6"/>
                </a:solidFill>
                <a:latin typeface="Segoe UI Light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36915" y="2432304"/>
            <a:ext cx="3241548" cy="288950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36915" y="2432304"/>
            <a:ext cx="3241548" cy="32004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1235" y="27066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FD2E4"/>
                </a:solidFill>
                <a:latin typeface="Segoe UI Light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1235" y="3090672"/>
            <a:ext cx="26929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4181B"/>
                </a:solidFill>
                <a:latin typeface="Segoe UI Semibold"/>
              </a:rPr>
              <a:t>TRADE-OFF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1235" y="3364992"/>
            <a:ext cx="26929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3D474D"/>
                </a:solidFill>
                <a:latin typeface="Segoe UI Semilight"/>
              </a:rPr>
              <a:t>What are we giving up, and who owns that call?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511235" y="3858768"/>
            <a:ext cx="2692908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511235" y="4041648"/>
            <a:ext cx="68580" cy="68580"/>
          </a:xfrm>
          <a:prstGeom prst="rect">
            <a:avLst/>
          </a:prstGeom>
          <a:solidFill>
            <a:srgbClr val="B3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5827" y="3986784"/>
            <a:ext cx="25283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B3372C"/>
                </a:solidFill>
                <a:latin typeface="Segoe UI Semibold"/>
              </a:rPr>
              <a:t>Failure   </a:t>
            </a:r>
            <a:r>
              <a:rPr sz="900" b="0" i="0">
                <a:solidFill>
                  <a:srgbClr val="3D474D"/>
                </a:solidFill>
                <a:latin typeface="Segoe UI"/>
              </a:rPr>
              <a:t>One dimension improves while another quietly moves the wrong way.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11235" y="4645152"/>
            <a:ext cx="68580" cy="68580"/>
          </a:xfrm>
          <a:prstGeom prst="rect">
            <a:avLst/>
          </a:prstGeom>
          <a:solidFill>
            <a:srgbClr val="3E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75827" y="4590288"/>
            <a:ext cx="25283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00" b="0" i="0">
                <a:solidFill>
                  <a:srgbClr val="3E8F63"/>
                </a:solidFill>
                <a:latin typeface="Segoe UI Semibold"/>
              </a:rPr>
              <a:t>Control   </a:t>
            </a:r>
            <a:r>
              <a:rPr sz="900" b="0" i="0">
                <a:solidFill>
                  <a:srgbClr val="3D474D"/>
                </a:solidFill>
                <a:latin typeface="Segoe UI"/>
              </a:rPr>
              <a:t>Hold the dimensions on separate axes and name the decision owner.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5541264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Each control is demonstrated later on the prototype: </a:t>
            </a:r>
            <a:r>
              <a:rPr sz="850" b="0" i="0">
                <a:solidFill>
                  <a:srgbClr val="3D474D"/>
                </a:solidFill>
                <a:latin typeface="Segoe UI Semibold"/>
              </a:rPr>
              <a:t>eligibility on page 10</a:t>
            </a:r>
            <a:r>
              <a:rPr sz="850" b="0" i="0">
                <a:solidFill>
                  <a:srgbClr val="D4DADE"/>
                </a:solidFill>
                <a:latin typeface="Segoe UI"/>
              </a:rPr>
              <a:t>  ·  </a:t>
            </a:r>
            <a:r>
              <a:rPr sz="850" b="0" i="0">
                <a:solidFill>
                  <a:srgbClr val="3D474D"/>
                </a:solidFill>
                <a:latin typeface="Segoe UI Semibold"/>
              </a:rPr>
              <a:t>comparability on page 11</a:t>
            </a:r>
            <a:r>
              <a:rPr sz="850" b="0" i="0">
                <a:solidFill>
                  <a:srgbClr val="D4DADE"/>
                </a:solidFill>
                <a:latin typeface="Segoe UI"/>
              </a:rPr>
              <a:t>  ·  </a:t>
            </a:r>
            <a:r>
              <a:rPr sz="850" b="0" i="0">
                <a:solidFill>
                  <a:srgbClr val="3D474D"/>
                </a:solidFill>
                <a:latin typeface="Segoe UI Semibold"/>
              </a:rPr>
              <a:t>trade-off on pages 9 and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  THE MANAGEMENT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Carbon is the dimension we measure best — and the carbon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standard itself says it is not the whole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A product carbon footprint is decision-relevant and, in the chemical context, unusually well supported by supplier-exchange infrastructure. It is still one impact category.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Quotation: GHG Protocol Product Life Cycle Accounting and Reporting Standard (WRI/WBCSD, 2011), §1.7, read in the original; emphasis added.  ·  Methods for other dimensions: ISO 14046:2014 (product water footprint); Commission Recommendation (EU) 2021/2279, Product Environmental Footprint, 16 impact categories.  ·  The data-availability constraint is a source-supported interpretation.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432304"/>
            <a:ext cx="10765231" cy="118872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432304"/>
            <a:ext cx="32004" cy="118872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2633472"/>
            <a:ext cx="100337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4181B"/>
                </a:solidFill>
                <a:latin typeface="Segoe UI Semilight"/>
              </a:rPr>
              <a:t>“The limitation of a GHG-only inventory is that potential trade-offs or co-benefits between environmental impacts can be missed. Therefore, </a:t>
            </a:r>
            <a:r>
              <a:rPr sz="1300" b="0" i="0">
                <a:solidFill>
                  <a:srgbClr val="14181B"/>
                </a:solidFill>
                <a:latin typeface="Segoe UI Semibold"/>
              </a:rPr>
              <a:t>the results of a GHG-only inventory should not be used to communicate the overall environmental performance of a product.</a:t>
            </a:r>
            <a:r>
              <a:rPr sz="1300" b="0" i="0">
                <a:solidFill>
                  <a:srgbClr val="14181B"/>
                </a:solidFill>
                <a:latin typeface="Segoe UI Semilight"/>
              </a:rPr>
              <a:t>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346704"/>
            <a:ext cx="1003371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GHG Protocol Product Standard, §1.7 — Limitations of product GHG inventories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913632"/>
            <a:ext cx="51311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4181B"/>
                </a:solidFill>
                <a:latin typeface="Segoe UI Semibold"/>
              </a:rPr>
              <a:t>What the number covers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4187952"/>
            <a:ext cx="5131155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3232" y="4384548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34256"/>
            <a:ext cx="49025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181B"/>
                </a:solidFill>
                <a:latin typeface="Segoe UI Semibold"/>
              </a:rPr>
              <a:t>Climate change</a:t>
            </a:r>
            <a:r>
              <a:rPr sz="900" b="0" i="0">
                <a:solidFill>
                  <a:srgbClr val="6E7B82"/>
                </a:solidFill>
                <a:latin typeface="Segoe UI"/>
              </a:rPr>
              <a:t>   one impact category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713732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663440"/>
            <a:ext cx="49025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181B"/>
                </a:solidFill>
                <a:latin typeface="Segoe UI Semibold"/>
              </a:rPr>
              <a:t>Cradle-to-gate</a:t>
            </a:r>
            <a:r>
              <a:rPr sz="900" b="0" i="0">
                <a:solidFill>
                  <a:srgbClr val="6E7B82"/>
                </a:solidFill>
                <a:latin typeface="Segoe UI"/>
              </a:rPr>
              <a:t>   a partial life cycle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04291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992624"/>
            <a:ext cx="49025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181B"/>
                </a:solidFill>
                <a:latin typeface="Segoe UI Semibold"/>
              </a:rPr>
              <a:t>kg CO₂e per kg</a:t>
            </a:r>
            <a:r>
              <a:rPr sz="900" b="0" i="0">
                <a:solidFill>
                  <a:srgbClr val="6E7B82"/>
                </a:solidFill>
                <a:latin typeface="Segoe UI"/>
              </a:rPr>
              <a:t>   a declared unit, not a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7307" y="3913632"/>
            <a:ext cx="51311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4181B"/>
                </a:solidFill>
                <a:latin typeface="Segoe UI Semibold"/>
              </a:rPr>
              <a:t>What it is silent on — named by the standard itself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47307" y="4187952"/>
            <a:ext cx="5131156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347307" y="4361688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0187" y="4315968"/>
            <a:ext cx="49025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D474D"/>
                </a:solidFill>
                <a:latin typeface="Segoe UI"/>
              </a:rPr>
              <a:t>Ecosystem degradation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47307" y="4608576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0187" y="4562856"/>
            <a:ext cx="49025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D474D"/>
                </a:solidFill>
                <a:latin typeface="Segoe UI"/>
              </a:rPr>
              <a:t>Resource depletion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47307" y="4855464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0187" y="4809744"/>
            <a:ext cx="49025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D474D"/>
                </a:solidFill>
                <a:latin typeface="Segoe UI"/>
              </a:rPr>
              <a:t>Ozone depletion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47307" y="5102352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0187" y="5056632"/>
            <a:ext cx="49025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D474D"/>
                </a:solidFill>
                <a:latin typeface="Segoe UI"/>
              </a:rPr>
              <a:t>Negative human health impacts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232" y="5559552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3232" y="5705856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4181B"/>
                </a:solidFill>
                <a:latin typeface="Segoe UI Semibold"/>
              </a:rPr>
              <a:t>And methods exist for the rest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05072" y="5678424"/>
            <a:ext cx="1965960" cy="310896"/>
          </a:xfrm>
          <a:prstGeom prst="rect">
            <a:avLst/>
          </a:prstGeom>
          <a:solidFill>
            <a:srgbClr val="E4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33087" y="572871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E5A87"/>
                </a:solidFill>
                <a:latin typeface="Segoe UI Semibold"/>
              </a:rPr>
              <a:t>ISO 14046</a:t>
            </a:r>
            <a:r>
              <a:rPr sz="850" b="0" i="0">
                <a:solidFill>
                  <a:srgbClr val="3D474D"/>
                </a:solidFill>
                <a:latin typeface="Segoe UI"/>
              </a:rPr>
              <a:t>  product water footprint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53912" y="5678424"/>
            <a:ext cx="1965960" cy="310896"/>
          </a:xfrm>
          <a:prstGeom prst="rect">
            <a:avLst/>
          </a:prstGeom>
          <a:solidFill>
            <a:srgbClr val="E4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8" y="572871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E5A87"/>
                </a:solidFill>
                <a:latin typeface="Segoe UI Semibold"/>
              </a:rPr>
              <a:t>EU PEF</a:t>
            </a:r>
            <a:r>
              <a:rPr sz="850" b="0" i="0">
                <a:solidFill>
                  <a:srgbClr val="3D474D"/>
                </a:solidFill>
                <a:latin typeface="Segoe UI"/>
              </a:rPr>
              <a:t>  16 impact categories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1" y="5696712"/>
            <a:ext cx="30385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 Semilight"/>
              </a:rPr>
              <a:t>The binding constraint is comparable supplier data, not the absence of a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  THE MANAGEMENT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Which dimensions matter depends on the material, its feedstock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and its origin — not on a universal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A universal ESG data request produces effort, not decisions. The constant is the screening question; the answer changes with what is bought, what it is made from and where it comes from.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Classification and drivers: author synthesis, built on ISO 14046:2014, Commission Recommendation (EU) 2021/2279 (PEFCRs fix relevant impact categories per product group), Regulation (EU) 2024/1252 and Directive (EU) 2026/470.  ·  The classification is a project synthesis on sourced dimension definitions.  ·  Supplier-level social performance data is class E — currently insufficiently measurable.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432304"/>
            <a:ext cx="10765231" cy="36576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510028"/>
            <a:ext cx="102165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8FA6B6"/>
                </a:solidFill>
                <a:latin typeface="Segoe UI Semibold"/>
              </a:rPr>
              <a:t>The screening question   </a:t>
            </a:r>
            <a:r>
              <a:rPr sz="1050" b="0" i="0">
                <a:solidFill>
                  <a:srgbClr val="FFFFFF"/>
                </a:solidFill>
                <a:latin typeface="Segoe UI"/>
              </a:rPr>
              <a:t>Could this dimension materially change the decision for this material, from this feedstock, from this origin?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80944"/>
            <a:ext cx="39776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B82"/>
                </a:solidFill>
                <a:latin typeface="Segoe UI Semibold"/>
              </a:rPr>
              <a:t>DECISION DIMENSION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98094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B82"/>
                </a:solidFill>
                <a:latin typeface="Segoe UI Semibold"/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2" y="2980944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B82"/>
                </a:solidFill>
                <a:latin typeface="Segoe UI Semibold"/>
              </a:rPr>
              <a:t>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2980944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B82"/>
                </a:solidFill>
                <a:latin typeface="Segoe UI Semibold"/>
              </a:rPr>
              <a:t>FEEDSTOCK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980944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B82"/>
                </a:solidFill>
                <a:latin typeface="Segoe UI Semibold"/>
              </a:rPr>
              <a:t>ORIGIN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2980944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B82"/>
                </a:solidFill>
                <a:latin typeface="Segoe UI Semibold"/>
              </a:rPr>
              <a:t>APPLICATION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218688"/>
            <a:ext cx="10765231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3314700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Climate / GHG — product carbon footprint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7196" y="3305556"/>
            <a:ext cx="210312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7196" y="3326587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6199632" y="3355848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44384" y="3355848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89136" y="3355848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33888" y="3355848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3497580"/>
            <a:ext cx="10765231" cy="24688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561588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Technical performance and qualification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97196" y="3552444"/>
            <a:ext cx="210312" cy="18288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97196" y="3573475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34" name="Oval 33"/>
          <p:cNvSpPr/>
          <p:nvPr/>
        </p:nvSpPr>
        <p:spPr>
          <a:xfrm>
            <a:off x="6185916" y="3589020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644384" y="3602736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3602736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20172" y="3589020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808476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Specific legal compliance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97196" y="3799332"/>
            <a:ext cx="210312" cy="18288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97196" y="3820363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41" name="Oval 40"/>
          <p:cNvSpPr/>
          <p:nvPr/>
        </p:nvSpPr>
        <p:spPr>
          <a:xfrm>
            <a:off x="6185916" y="3835908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644384" y="3849624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75420" y="3835908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20172" y="3835908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" y="3991356"/>
            <a:ext cx="10765231" cy="24688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055364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Commercial performance — price, TCO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97196" y="4046220"/>
            <a:ext cx="210312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97196" y="4067251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6185916" y="4082796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644384" y="4096512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89136" y="4096512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520172" y="4082796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4302252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Circularity / resource loops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97196" y="4293107"/>
            <a:ext cx="210312" cy="1828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97196" y="4314139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14181B"/>
                </a:solidFill>
                <a:latin typeface="Segoe UI Semibold"/>
              </a:rPr>
              <a:t>B</a:t>
            </a:r>
          </a:p>
        </p:txBody>
      </p:sp>
      <p:sp>
        <p:nvSpPr>
          <p:cNvPr id="56" name="Oval 55"/>
          <p:cNvSpPr/>
          <p:nvPr/>
        </p:nvSpPr>
        <p:spPr>
          <a:xfrm>
            <a:off x="6185916" y="4329683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630668" y="4329683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89136" y="4343400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20172" y="4329683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3232" y="4485132"/>
            <a:ext cx="10765231" cy="24688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4549140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Pollution / toxicity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97196" y="4539996"/>
            <a:ext cx="210312" cy="1828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97196" y="4561027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14181B"/>
                </a:solidFill>
                <a:latin typeface="Segoe UI Semibold"/>
              </a:rPr>
              <a:t>B</a:t>
            </a:r>
          </a:p>
        </p:txBody>
      </p:sp>
      <p:sp>
        <p:nvSpPr>
          <p:cNvPr id="64" name="Oval 63"/>
          <p:cNvSpPr/>
          <p:nvPr/>
        </p:nvSpPr>
        <p:spPr>
          <a:xfrm>
            <a:off x="6185916" y="4576572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644384" y="4590288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089136" y="4590288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520172" y="4576572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796028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Water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97196" y="4786884"/>
            <a:ext cx="210312" cy="1828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97196" y="4807915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14181B"/>
                </a:solidFill>
                <a:latin typeface="Segoe UI Semibold"/>
              </a:rPr>
              <a:t>B</a:t>
            </a:r>
          </a:p>
        </p:txBody>
      </p:sp>
      <p:sp>
        <p:nvSpPr>
          <p:cNvPr id="71" name="Oval 70"/>
          <p:cNvSpPr/>
          <p:nvPr/>
        </p:nvSpPr>
        <p:spPr>
          <a:xfrm>
            <a:off x="6199632" y="4837176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668" y="4823460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075420" y="4823460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533888" y="4837176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13232" y="4978908"/>
            <a:ext cx="10765231" cy="24688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5042916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Resource use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997196" y="5033772"/>
            <a:ext cx="210312" cy="1828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97196" y="5054803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14181B"/>
                </a:solidFill>
                <a:latin typeface="Segoe UI Semibold"/>
              </a:rPr>
              <a:t>B</a:t>
            </a:r>
          </a:p>
        </p:txBody>
      </p:sp>
      <p:sp>
        <p:nvSpPr>
          <p:cNvPr id="79" name="Oval 78"/>
          <p:cNvSpPr/>
          <p:nvPr/>
        </p:nvSpPr>
        <p:spPr>
          <a:xfrm>
            <a:off x="6185916" y="5070348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630668" y="5070348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89136" y="5084064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533888" y="5084064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5289804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Supply-chain resilience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97196" y="5280659"/>
            <a:ext cx="210312" cy="1828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97196" y="5301691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14181B"/>
                </a:solidFill>
                <a:latin typeface="Segoe UI Semibold"/>
              </a:rPr>
              <a:t>B</a:t>
            </a:r>
          </a:p>
        </p:txBody>
      </p:sp>
      <p:sp>
        <p:nvSpPr>
          <p:cNvPr id="86" name="Oval 85"/>
          <p:cNvSpPr/>
          <p:nvPr/>
        </p:nvSpPr>
        <p:spPr>
          <a:xfrm>
            <a:off x="6185916" y="5317236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644384" y="5330952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075420" y="5317236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533888" y="5330952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13232" y="5472684"/>
            <a:ext cx="10765231" cy="24688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1520" y="5536692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Land use / biodiversity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97196" y="5527548"/>
            <a:ext cx="210312" cy="1828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997196" y="5548579"/>
            <a:ext cx="210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E7B82"/>
                </a:solidFill>
                <a:latin typeface="Segoe UI Semibold"/>
              </a:rPr>
              <a:t>D</a:t>
            </a:r>
          </a:p>
        </p:txBody>
      </p:sp>
      <p:sp>
        <p:nvSpPr>
          <p:cNvPr id="94" name="Oval 93"/>
          <p:cNvSpPr/>
          <p:nvPr/>
        </p:nvSpPr>
        <p:spPr>
          <a:xfrm>
            <a:off x="6199632" y="5577840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630668" y="5564124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075420" y="5564124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533888" y="5577840"/>
            <a:ext cx="73152" cy="73152"/>
          </a:xfrm>
          <a:prstGeom prst="ellipse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713232" y="577900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713232" y="5925312"/>
            <a:ext cx="173736" cy="15087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28116" y="59070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A</a:t>
            </a:r>
            <a:r>
              <a:rPr sz="850" b="0" i="0">
                <a:solidFill>
                  <a:srgbClr val="6E7B82"/>
                </a:solidFill>
                <a:latin typeface="Segoe UI"/>
              </a:rPr>
              <a:t>  core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920240" y="5925312"/>
            <a:ext cx="173736" cy="150876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5124" y="59070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B</a:t>
            </a:r>
            <a:r>
              <a:rPr sz="850" b="0" i="0">
                <a:solidFill>
                  <a:srgbClr val="6E7B82"/>
                </a:solidFill>
                <a:latin typeface="Segoe UI"/>
              </a:rPr>
              <a:t>  context-dependent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749039" y="5925312"/>
            <a:ext cx="173736" cy="150876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963924" y="59070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C</a:t>
            </a:r>
            <a:r>
              <a:rPr sz="850" b="0" i="0">
                <a:solidFill>
                  <a:srgbClr val="6E7B82"/>
                </a:solidFill>
                <a:latin typeface="Segoe UI"/>
              </a:rPr>
              <a:t>  gate / compliance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577840" y="5925312"/>
            <a:ext cx="173736" cy="150876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92724" y="59070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D</a:t>
            </a:r>
            <a:r>
              <a:rPr sz="850" b="0" i="0">
                <a:solidFill>
                  <a:srgbClr val="6E7B82"/>
                </a:solidFill>
                <a:latin typeface="Segoe UI"/>
              </a:rPr>
              <a:t>  big picture, not this prototype</a:t>
            </a:r>
          </a:p>
        </p:txBody>
      </p:sp>
      <p:sp>
        <p:nvSpPr>
          <p:cNvPr id="107" name="Oval 106"/>
          <p:cNvSpPr/>
          <p:nvPr/>
        </p:nvSpPr>
        <p:spPr>
          <a:xfrm>
            <a:off x="8549640" y="5957316"/>
            <a:ext cx="100584" cy="100584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759952" y="59070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driver that can change materiality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II  WHAT BEST PRACTICE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Most things called “gates” are not gates — and mixing the four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decision roles is what breaks a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Four dimensions can look alike on a data sheet and behave completely differently in a decision. A gate is not a preference, and evidence is not performance.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Decision-role convention: project synthesis  ·  C6 Ashby, constraints vs. objectives  ·  A2 ISO 14044 and P3 PACT v3 for evidence metadata  ·  V2 REACH Annex XIV / XVII instruments  ·  V1 Directive (EU) 2026/470, applying from 26 July 2029 to a narrow set of very large companies.  The four-role convention is a PROJECT SYNTHESIS; the legal statements are fact.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432304"/>
            <a:ext cx="6263640" cy="219456"/>
          </a:xfrm>
          <a:prstGeom prst="rect">
            <a:avLst/>
          </a:prstGeom>
          <a:noFill/>
          <a:ln w="9525"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479852"/>
            <a:ext cx="5989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14181B"/>
                </a:solidFill>
                <a:latin typeface="Segoe UI Semibold"/>
              </a:rPr>
              <a:t>PROJECT SYNTHESIS</a:t>
            </a:r>
            <a:r>
              <a:rPr sz="800" b="0" i="0">
                <a:solidFill>
                  <a:srgbClr val="6E7B82"/>
                </a:solidFill>
                <a:latin typeface="Segoe UI"/>
              </a:rPr>
              <a:t>   a practical decision convention, not a validated external framework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724912"/>
            <a:ext cx="6263640" cy="71323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2724912"/>
            <a:ext cx="50292" cy="713232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282549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4181B"/>
                </a:solidFill>
                <a:latin typeface="Segoe UI Semibold"/>
              </a:rPr>
              <a:t>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099816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D474D"/>
                </a:solidFill>
                <a:latin typeface="Segoe UI"/>
              </a:rPr>
              <a:t>Can this alternative be considered at all?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907792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Pass / fail.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Never traded off.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529584"/>
            <a:ext cx="6263640" cy="71323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529584"/>
            <a:ext cx="50292" cy="713232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363016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4181B"/>
                </a:solidFill>
                <a:latin typeface="Segoe UI Semibold"/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3904487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D474D"/>
                </a:solidFill>
                <a:latin typeface="Segoe UI"/>
              </a:rPr>
              <a:t>How does an eligible alternative perform?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712463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Compared, plotted,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traded off.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334256"/>
            <a:ext cx="6263640" cy="71323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4334256"/>
            <a:ext cx="50292" cy="71323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43484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4181B"/>
                </a:solidFill>
                <a:latin typeface="Segoe UI Semibold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7091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D474D"/>
                </a:solidFill>
                <a:latin typeface="Segoe UI"/>
              </a:rPr>
              <a:t>How much confidence does that comparison deserve?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517136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Reported beside the number,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never blended into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138928"/>
            <a:ext cx="6263640" cy="71323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138928"/>
            <a:ext cx="50292" cy="713232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23951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4181B"/>
                </a:solidFill>
                <a:latin typeface="Segoe UI Semibold"/>
              </a:rPr>
              <a:t>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5513832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D474D"/>
                </a:solidFill>
                <a:latin typeface="Segoe UI"/>
              </a:rPr>
              <a:t>Under what material, application and supply conditions?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321808"/>
            <a:ext cx="1965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Filters and explains.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Not optimised.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980176"/>
            <a:ext cx="6263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A gate without a named threshold owner is an opinion.</a:t>
            </a:r>
            <a:r>
              <a:rPr sz="850" b="0" i="0">
                <a:solidFill>
                  <a:srgbClr val="6E7B82"/>
                </a:solidFill>
                <a:latin typeface="Segoe UI"/>
              </a:rPr>
              <a:t>   Every gate names its threshold owner, decision owner and time horizon.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1192" y="2432304"/>
            <a:ext cx="4224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THE ROLE IS SET BY THE DECISION RULE, NOT THE TOPIC NAME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51192" y="2670048"/>
            <a:ext cx="4224528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251192" y="2761488"/>
            <a:ext cx="42245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Supply risk  —  </a:t>
            </a:r>
            <a:r>
              <a:rPr sz="850" b="0" i="0">
                <a:solidFill>
                  <a:srgbClr val="3D474D"/>
                </a:solidFill>
                <a:latin typeface="Segoe UI"/>
              </a:rPr>
              <a:t>gate where a minimum volume or dual-source policy is contractual; performance where lower concentration is preferred; context elsewhere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3218688"/>
            <a:ext cx="42245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Regulatory criteria  —  </a:t>
            </a:r>
            <a:r>
              <a:rPr sz="850" b="0" i="0">
                <a:solidFill>
                  <a:srgbClr val="3D474D"/>
                </a:solidFill>
                <a:latin typeface="Segoe UI"/>
              </a:rPr>
              <a:t>gate only where the specific use is unlawful, unauthorised or outside written company policy — disclosure duties are not gates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3675887"/>
            <a:ext cx="42245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Social criteria  —  </a:t>
            </a:r>
            <a:r>
              <a:rPr sz="850" b="0" i="0">
                <a:solidFill>
                  <a:srgbClr val="3D474D"/>
                </a:solidFill>
                <a:latin typeface="Segoe UI"/>
              </a:rPr>
              <a:t>gate for prohibited conduct or an explicit minimum requirement; general due diligence is a risk-based process, not a certificate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51192" y="4206240"/>
            <a:ext cx="4224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WHAT IS — AND IS NOT — A GATE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251192" y="4443983"/>
            <a:ext cx="4224528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251192" y="4535424"/>
            <a:ext cx="4224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3372C"/>
                </a:solidFill>
                <a:latin typeface="Segoe UI Semibold"/>
              </a:rPr>
              <a:t>Not a gate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4805171"/>
            <a:ext cx="68580" cy="68580"/>
          </a:xfrm>
          <a:prstGeom prst="rect">
            <a:avLst/>
          </a:prstGeom>
          <a:solidFill>
            <a:srgbClr val="B3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34072" y="4754879"/>
            <a:ext cx="3995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REACH Candidate-List presence</a:t>
            </a:r>
            <a:r>
              <a:rPr sz="850" b="0" i="0">
                <a:solidFill>
                  <a:srgbClr val="6E7B82"/>
                </a:solidFill>
                <a:latin typeface="Segoe UI"/>
              </a:rPr>
              <a:t>   a disclosure duty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80" y="5024627"/>
            <a:ext cx="68580" cy="68580"/>
          </a:xfrm>
          <a:prstGeom prst="rect">
            <a:avLst/>
          </a:prstGeom>
          <a:solidFill>
            <a:srgbClr val="B3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34072" y="4974336"/>
            <a:ext cx="3995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General due diligence status</a:t>
            </a:r>
            <a:r>
              <a:rPr sz="850" b="0" i="0">
                <a:solidFill>
                  <a:srgbClr val="6E7B82"/>
                </a:solidFill>
                <a:latin typeface="Segoe UI"/>
              </a:rPr>
              <a:t>   a risk-based process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51192" y="5248655"/>
            <a:ext cx="4224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A gate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80" y="5518403"/>
            <a:ext cx="68580" cy="6858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2" y="5468112"/>
            <a:ext cx="3995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Annex XIV after sunset, without authorisation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69480" y="5737859"/>
            <a:ext cx="68580" cy="6858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34072" y="5687568"/>
            <a:ext cx="3995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Annex XVII restriction covering the specific use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9480" y="5957315"/>
            <a:ext cx="68580" cy="6858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34072" y="5907023"/>
            <a:ext cx="3995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An explicit company policy threshold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II  WHAT BEST PRACTICE LOOKS LIKE   ·   BEST-PRACTICE ANCHOR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Screen, compare, qualify, decide, record — the practices that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survive the evidence, and how strongly each is 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Thirteen practices came out of the research. Four are strongly evidenced. Showing which is which is itself a practice — it stops a plausible recommendation being read as an established one.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BP-1 to BP-13: author synthesis, with the evidence recorded for each practice  ·  P1 GHG Protocol Product Standard §A.1  ·  P2 JRC132067  ·  P3 PACT v3  ·  A1 ISO 20400  ·  A2 ISO 14044.  The marker describes how well a practice is supported — never organisational maturity. No scoring, no ranking, no maturity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432304"/>
            <a:ext cx="1992111" cy="40233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482596"/>
            <a:ext cx="17177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</a:rPr>
              <a:t>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670048"/>
            <a:ext cx="171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BFD2E4"/>
                </a:solidFill>
                <a:latin typeface="Segoe UI"/>
              </a:rPr>
              <a:t>eligibility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9059" y="2523744"/>
            <a:ext cx="173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E5A87"/>
                </a:solidFill>
                <a:latin typeface="Segoe UI Light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2985516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2944368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BP-1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127248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Screen on hard constraints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" y="3515868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3474720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BP-9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657600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Gate on specific legal thresholds, not general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4046220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005072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BP-8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187952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Treat supply risk as a dimension, not a footnote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06511" y="2432304"/>
            <a:ext cx="1992111" cy="40233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52815" y="2482596"/>
            <a:ext cx="17177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</a:rPr>
              <a:t>COMPARE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52815" y="2670048"/>
            <a:ext cx="171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BFD2E4"/>
                </a:solidFill>
                <a:latin typeface="Segoe UI"/>
              </a:rPr>
              <a:t>comparability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2339" y="2523744"/>
            <a:ext cx="173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E5A87"/>
                </a:solidFill>
                <a:latin typeface="Segoe UI Light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06511" y="2907792"/>
            <a:ext cx="1992111" cy="457200"/>
          </a:xfrm>
          <a:prstGeom prst="rect">
            <a:avLst/>
          </a:prstGeom>
          <a:solidFill>
            <a:srgbClr val="E4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88807" y="2985516"/>
            <a:ext cx="91440" cy="9144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4255" y="2944368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14181B"/>
                </a:solidFill>
                <a:latin typeface="Segoe UI Semibold"/>
              </a:rPr>
              <a:t>BP-13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8807" y="3127248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Define equivalent function before any per-kg benchmark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06511" y="3438144"/>
            <a:ext cx="1992111" cy="457200"/>
          </a:xfrm>
          <a:prstGeom prst="rect">
            <a:avLst/>
          </a:prstGeom>
          <a:solidFill>
            <a:srgbClr val="E4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88807" y="3515868"/>
            <a:ext cx="91440" cy="9144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44255" y="3474720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14181B"/>
                </a:solidFill>
                <a:latin typeface="Segoe UI Semibold"/>
              </a:rPr>
              <a:t>BP-5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88807" y="3657600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Satisfy the six comparability conditions first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88807" y="4046220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44255" y="4005072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BP-2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8807" y="4187952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Require the primary-data share, not just a figure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88807" y="4576572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44255" y="4535424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BP-12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88807" y="4718304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Declare a comparability verdict, not a colour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99791" y="2432304"/>
            <a:ext cx="1992111" cy="40233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46095" y="2482596"/>
            <a:ext cx="17177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</a:rPr>
              <a:t>QUALIFY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46095" y="2670048"/>
            <a:ext cx="171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BFD2E4"/>
                </a:solidFill>
                <a:latin typeface="Segoe UI"/>
              </a:rPr>
              <a:t>evidence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05619" y="2523744"/>
            <a:ext cx="173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E5A87"/>
                </a:solidFill>
                <a:latin typeface="Segoe UI Light"/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99791" y="2907792"/>
            <a:ext cx="1992111" cy="457200"/>
          </a:xfrm>
          <a:prstGeom prst="rect">
            <a:avLst/>
          </a:prstGeom>
          <a:solidFill>
            <a:srgbClr val="E4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82087" y="2985516"/>
            <a:ext cx="91440" cy="9144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37535" y="2944368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14181B"/>
                </a:solidFill>
                <a:latin typeface="Segoe UI Semibold"/>
              </a:rPr>
              <a:t>BP-3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2087" y="3127248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Carry evidence quality beside the number, never inside 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99791" y="3438144"/>
            <a:ext cx="1992111" cy="457200"/>
          </a:xfrm>
          <a:prstGeom prst="rect">
            <a:avLst/>
          </a:prstGeom>
          <a:solidFill>
            <a:srgbClr val="E4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2087" y="3515868"/>
            <a:ext cx="91440" cy="9144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37535" y="3474720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14181B"/>
                </a:solidFill>
                <a:latin typeface="Segoe UI Semibold"/>
              </a:rPr>
              <a:t>BP-4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82087" y="3657600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Never substitute zero for missing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93071" y="2432304"/>
            <a:ext cx="1992111" cy="40233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39375" y="2482596"/>
            <a:ext cx="17177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</a:rPr>
              <a:t>DECIDE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39375" y="2670048"/>
            <a:ext cx="171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BFD2E4"/>
                </a:solidFill>
                <a:latin typeface="Segoe UI"/>
              </a:rPr>
              <a:t>trade-off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98899" y="2523744"/>
            <a:ext cx="173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E5A87"/>
                </a:solidFill>
                <a:latin typeface="Segoe UI Light"/>
              </a:rPr>
              <a:t>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75367" y="2985516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30815" y="2944368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BP-6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75367" y="3127248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Decide on total cost, not on price per kg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75367" y="3515868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30815" y="3474720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BP-10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75367" y="3657600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Price in regulatory cost transmission early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75367" y="4046220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30815" y="4005072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BP-7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75367" y="4187952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Validate circularity against life-cycle impact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86351" y="2432304"/>
            <a:ext cx="1992111" cy="40233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32655" y="2482596"/>
            <a:ext cx="171779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</a:rPr>
              <a:t>RECORD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32655" y="2670048"/>
            <a:ext cx="17177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BFD2E4"/>
                </a:solidFill>
                <a:latin typeface="Segoe UI"/>
              </a:rPr>
              <a:t>owned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68647" y="2985516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6E7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24095" y="2944368"/>
            <a:ext cx="166292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BP-11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68647" y="3127248"/>
            <a:ext cx="18275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One decision record, not two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68647" y="3493008"/>
            <a:ext cx="1827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Shared by procurement and engineering, with the gate reasons visible.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3232" y="5225796"/>
            <a:ext cx="91440" cy="9144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6112" y="519379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strongly evidenced — primary standard or EU authority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005072" y="5225796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87952" y="519379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supported — cited, but narrower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91072" y="5225796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6E7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73952" y="5193792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project recommendation — plausible, not externally evidenced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3232" y="5449824"/>
            <a:ext cx="10765231" cy="512064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9264" y="5527548"/>
            <a:ext cx="1021659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 Semibold"/>
              </a:rPr>
              <a:t>What a procurement organisation does differently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C6D4E0"/>
                </a:solidFill>
                <a:latin typeface="Segoe UI"/>
              </a:rPr>
              <a:t>Name the rulebook in the RFQ  ·  report the primary-data share  ·  keep evidence beside the number  ·  never zero-fill a gap  ·  one decision record, not two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II  WHAT BEST PRACTICE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Two supplier carbon footprints are not comparable until six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conditions hold — and a PCF alone satisfies none of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The standard that defines the product carbon footprint also states that it does not, on its own, support a purchasing comparison. Comparability is engineered upstream in the specification.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All six conditions verbatim from the GHG Protocol Product Life Cycle Accounting and Reporting Standard (WRI/WBCSD, 2011), Appendix A §A.1; Table A.2 states that business purchasing decisions are not supported by the standard unaided.  ·  D1 BASF disclosure of economic allocation where physical data is unavailable.  ·  B1 TfS, B3 Catena-X and P3 PACT v3 are examples of the additional programme specifications §A.1 requires; conformance to them was not verified here.  The three-state verdict is a source-supported interpretation.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432304"/>
            <a:ext cx="3566160" cy="65836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25603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4181B"/>
                </a:solidFill>
                <a:latin typeface="Segoe UI Semibold"/>
              </a:rPr>
              <a:t>SUPPLIER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279806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Product carbon footprint, kg CO₂e per kg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2432304"/>
            <a:ext cx="3566160" cy="65836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560320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4181B"/>
                </a:solidFill>
                <a:latin typeface="Segoe UI Semibold"/>
              </a:rPr>
              <a:t>SUPPLIER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279806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Product carbon footprint, kg CO₂e per kg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8103" y="2665476"/>
            <a:ext cx="475488" cy="50292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8103" y="2820924"/>
            <a:ext cx="475488" cy="50292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5766663" y="2768346"/>
            <a:ext cx="658368" cy="0"/>
          </a:xfrm>
          <a:prstGeom prst="line">
            <a:avLst/>
          </a:prstGeom>
          <a:ln w="31750">
            <a:solidFill>
              <a:srgbClr val="B33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62272" y="3163824"/>
            <a:ext cx="32671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A PCF alone satisfies none of the six conditions.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40156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THE SIX CONDITIONS FOR A BUSINESS PURCHASING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3401568"/>
            <a:ext cx="43644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GHG Protocol Product Standard, Appendix A §A.1 — verbatim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" y="3639312"/>
            <a:ext cx="10765231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13232" y="3762756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783787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749040"/>
            <a:ext cx="47882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The unit of analysis is identical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4447" y="3762756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4447" y="3783787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7055" y="3749040"/>
            <a:ext cx="47882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System boundaries and the temporal boundary are equivalent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4256532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277563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242816"/>
            <a:ext cx="47882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The same allocation methods are used for similar processes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443984"/>
            <a:ext cx="47882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D99A2B"/>
                </a:solidFill>
                <a:latin typeface="Segoe UI"/>
              </a:rPr>
              <a:t>Broken between two honest suppliers wherever one allocates economically and the other physically.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4447" y="4256532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4447" y="4277563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17055" y="4242816"/>
            <a:ext cx="47882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Data types, data quality and uncertainty are reported and assessed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4750308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771339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736592"/>
            <a:ext cx="47882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Temporal and geographical representativeness is assessed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24447" y="4750308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4447" y="4771339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7055" y="4736592"/>
            <a:ext cx="47882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Third-party assurance has been performed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7055" y="4937760"/>
            <a:ext cx="47882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D99A2B"/>
                </a:solidFill>
                <a:latin typeface="Segoe UI"/>
              </a:rPr>
              <a:t>The least met of the six in practice.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13232" y="5340096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13232" y="5486400"/>
            <a:ext cx="1737360" cy="292608"/>
          </a:xfrm>
          <a:prstGeom prst="rect">
            <a:avLst/>
          </a:prstGeom>
          <a:solidFill>
            <a:srgbClr val="D9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555498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E8F63"/>
                </a:solidFill>
                <a:latin typeface="Segoe UI Semibold"/>
              </a:rPr>
              <a:t>Comparable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87752" y="5486400"/>
            <a:ext cx="2331720" cy="292608"/>
          </a:xfrm>
          <a:prstGeom prst="rect">
            <a:avLst/>
          </a:prstGeom>
          <a:solidFill>
            <a:srgbClr val="FA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87752" y="5554980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99A2B"/>
                </a:solidFill>
                <a:latin typeface="Segoe UI Semibold"/>
              </a:rPr>
              <a:t>Conditionally comparable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56632" y="5486400"/>
            <a:ext cx="1737360" cy="292608"/>
          </a:xfrm>
          <a:prstGeom prst="rect">
            <a:avLst/>
          </a:prstGeom>
          <a:solidFill>
            <a:srgbClr val="F4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56632" y="555498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3372C"/>
                </a:solidFill>
                <a:latin typeface="Segoe UI Semibold"/>
              </a:rPr>
              <a:t>Not comparable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9752" y="5468112"/>
            <a:ext cx="43187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Where the methodological gap could plausibly exceed the measured difference, </a:t>
            </a:r>
            <a:r>
              <a:rPr sz="900" b="0" i="0">
                <a:solidFill>
                  <a:srgbClr val="14181B"/>
                </a:solidFill>
                <a:latin typeface="Segoe UI Semibold"/>
              </a:rPr>
              <a:t>report no difference.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5888736"/>
            <a:ext cx="10765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The prototype does not yet demonstrate compliance with these conditions — page 12 names the fields that would close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II  WHAT BEST PRACTICE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A number without its evidence is not a measurement — and a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missing number is never a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Evidence is four separate things, and none of them may be folded into the performance number. If absence defaults to zero, the least transparent supplier becomes the best performer.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P3 PACT v3 reliability KPIs, incl. share of primary data  ·  A2 ISO 14044 temporal, geographical and technological representativeness  ·  P1 GHG Protocol Product Standard §A.1, conditions 4 and 6  ·  P2 JRC132067, mixed primary-foreground / secondary-background inventory structure  ·  E2.  The four-way split of evidence is a source-supported interpretation.  The value shown is illustrative and is not taken from the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432304"/>
            <a:ext cx="3401568" cy="283464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432304"/>
            <a:ext cx="3401568" cy="29260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491740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BARE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2907792"/>
            <a:ext cx="2944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4181B"/>
                </a:solidFill>
                <a:latin typeface="Segoe UI Light"/>
              </a:rPr>
              <a:t>2.4 kg CO₂e / kg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0976" y="3419856"/>
            <a:ext cx="2926080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0976" y="356616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D474D"/>
                </a:solidFill>
                <a:latin typeface="Segoe UI"/>
              </a:rPr>
              <a:t>Provenance</a:t>
            </a:r>
            <a:r>
              <a:rPr sz="950" b="0" i="0">
                <a:solidFill>
                  <a:srgbClr val="D99A2B"/>
                </a:solidFill>
                <a:latin typeface="Segoe UI Semibold"/>
              </a:rPr>
              <a:t>     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84048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D474D"/>
                </a:solidFill>
                <a:latin typeface="Segoe UI"/>
              </a:rPr>
              <a:t>Data quality</a:t>
            </a:r>
            <a:r>
              <a:rPr sz="950" b="0" i="0">
                <a:solidFill>
                  <a:srgbClr val="D99A2B"/>
                </a:solidFill>
                <a:latin typeface="Segoe UI Semibold"/>
              </a:rPr>
              <a:t>     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11480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D474D"/>
                </a:solidFill>
                <a:latin typeface="Segoe UI"/>
              </a:rPr>
              <a:t>Verification</a:t>
            </a:r>
            <a:r>
              <a:rPr sz="950" b="0" i="0">
                <a:solidFill>
                  <a:srgbClr val="D99A2B"/>
                </a:solidFill>
                <a:latin typeface="Segoe UI Semibold"/>
              </a:rPr>
              <a:t>     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3891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3D474D"/>
                </a:solidFill>
                <a:latin typeface="Segoe UI"/>
              </a:rPr>
              <a:t>Uncertainty</a:t>
            </a:r>
            <a:r>
              <a:rPr sz="950" b="0" i="0">
                <a:solidFill>
                  <a:srgbClr val="D99A2B"/>
                </a:solidFill>
                <a:latin typeface="Segoe UI Semibold"/>
              </a:rPr>
              <a:t>     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82803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181B"/>
                </a:solidFill>
                <a:latin typeface="Segoe UI Semibold"/>
              </a:rPr>
              <a:t>A number. Not a measurement.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5063" y="2432304"/>
            <a:ext cx="3401568" cy="283464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95063" y="2432304"/>
            <a:ext cx="3401568" cy="292608"/>
          </a:xfrm>
          <a:prstGeom prst="rect">
            <a:avLst/>
          </a:prstGeom>
          <a:solidFill>
            <a:srgbClr val="3E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2807" y="2491740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 Semibold"/>
              </a:rPr>
              <a:t>QUALIFIED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2807" y="2907792"/>
            <a:ext cx="2944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14181B"/>
                </a:solidFill>
                <a:latin typeface="Segoe UI Light"/>
              </a:rPr>
              <a:t>2.4 kg CO₂e / kg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32807" y="3419856"/>
            <a:ext cx="2926080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632807" y="356616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Provenance</a:t>
            </a:r>
            <a:r>
              <a:rPr sz="850" b="0" i="0">
                <a:solidFill>
                  <a:srgbClr val="3D474D"/>
                </a:solidFill>
                <a:latin typeface="Segoe UI"/>
              </a:rPr>
              <a:t>   supplier-specific; primary-data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2807" y="384048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Data quality</a:t>
            </a:r>
            <a:r>
              <a:rPr sz="850" b="0" i="0">
                <a:solidFill>
                  <a:srgbClr val="3D474D"/>
                </a:solidFill>
                <a:latin typeface="Segoe UI"/>
              </a:rPr>
              <a:t>   temporal, geographical, technological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2807" y="411480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Verification</a:t>
            </a:r>
            <a:r>
              <a:rPr sz="850" b="0" i="0">
                <a:solidFill>
                  <a:srgbClr val="3D474D"/>
                </a:solidFill>
                <a:latin typeface="Segoe UI"/>
              </a:rPr>
              <a:t>   third-party assurance performed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2807" y="438912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Uncertainty</a:t>
            </a:r>
            <a:r>
              <a:rPr sz="850" b="0" i="0">
                <a:solidFill>
                  <a:srgbClr val="3D474D"/>
                </a:solidFill>
                <a:latin typeface="Segoe UI"/>
              </a:rPr>
              <a:t>   assessed and reported with the value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2807" y="482803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181B"/>
                </a:solidFill>
                <a:latin typeface="Segoe UI Semibold"/>
              </a:rPr>
              <a:t>The same number, now usable.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6895" y="2432304"/>
            <a:ext cx="3401568" cy="283464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6895" y="2432304"/>
            <a:ext cx="3401568" cy="292608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14639" y="2491740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ABSENT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14639" y="2907792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14639" y="29946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E7B82"/>
                </a:solidFill>
                <a:latin typeface="Segoe UI Light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0559" y="298094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no figure reported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314639" y="3419856"/>
            <a:ext cx="2926080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314639" y="356616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B3372C"/>
                </a:solidFill>
                <a:latin typeface="Segoe UI Light"/>
              </a:rPr>
              <a:t>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78063" y="3675888"/>
            <a:ext cx="347472" cy="0"/>
          </a:xfrm>
          <a:prstGeom prst="line">
            <a:avLst/>
          </a:prstGeom>
          <a:ln w="25400">
            <a:solidFill>
              <a:srgbClr val="B33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698687" y="3621024"/>
            <a:ext cx="2542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3372C"/>
                </a:solidFill>
                <a:latin typeface="Segoe UI Semibold"/>
              </a:rPr>
              <a:t>never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4639" y="40233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If absence defaults to zero, the least transparent supplier becomes the best performer.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4639" y="4828032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181B"/>
                </a:solidFill>
                <a:latin typeface="Segoe UI Semibold"/>
              </a:rPr>
              <a:t>Missing stays missing.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3232" y="54132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13232" y="5541264"/>
            <a:ext cx="5989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Supplier-specific is not the same as primary.  </a:t>
            </a:r>
            <a:r>
              <a:rPr sz="900" b="0" i="0">
                <a:solidFill>
                  <a:srgbClr val="3D474D"/>
                </a:solidFill>
                <a:latin typeface="Segoe UI"/>
              </a:rPr>
              <a:t>A supplier-specific footprint normally combines primary activity data with secondary background factors — which is why PACT reports a share of primary data, not a flag.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9752" y="5541264"/>
            <a:ext cx="4318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Carried into the prototype.  </a:t>
            </a:r>
            <a:r>
              <a:rPr sz="900" b="0" i="0">
                <a:solidFill>
                  <a:srgbClr val="3D474D"/>
                </a:solidFill>
                <a:latin typeface="Segoe UI"/>
              </a:rPr>
              <a:t>It implements provenance and temporal quality, and enforces the never-zero rule at four independent layers — page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III  FROM PRINCIPLE TO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A working demonstrator on synthetic data — where the portfolio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total is five times smaller than it first appears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Five benchmark cases, twenty-five material alternatives, one incumbent in each. The demonstrator carries the decision structure end to end — and its first lesson is an arithmetic one.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SYNTHETIC DEMONSTRATION DATA — no supplier, company or market data is used or implied.  ·  Figures computed from data/processed/consolidated_material_benchmark.csv through the 21 audited semantic measures; percentage deltas are recomputed from absolute values per audit item A3.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406908"/>
            <a:ext cx="2395728" cy="201168"/>
          </a:xfrm>
          <a:prstGeom prst="rect">
            <a:avLst/>
          </a:prstGeom>
          <a:noFill/>
          <a:ln w="9525"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48056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SYNTHETIC DEMONSTRATION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32304"/>
            <a:ext cx="6309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PORTFOLIO POSITION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2670048"/>
            <a:ext cx="6309360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2761488"/>
            <a:ext cx="6309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All 25 options, summed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926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6E7B82"/>
                </a:solidFill>
                <a:latin typeface="Segoe UI Light"/>
              </a:rPr>
              <a:t>4,073,400 €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6656" y="3154680"/>
            <a:ext cx="2505456" cy="0"/>
          </a:xfrm>
          <a:prstGeom prst="line">
            <a:avLst/>
          </a:prstGeom>
          <a:ln w="28575">
            <a:solidFill>
              <a:srgbClr val="B337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3456432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950" b="0" i="0">
                <a:solidFill>
                  <a:srgbClr val="3D474D"/>
                </a:solidFill>
                <a:latin typeface="Segoe UI"/>
              </a:rPr>
              <a:t>Every alternative is a scenario for the same demand. </a:t>
            </a:r>
            <a:r>
              <a:rPr sz="950" b="0" i="0">
                <a:solidFill>
                  <a:srgbClr val="14181B"/>
                </a:solidFill>
                <a:latin typeface="Segoe UI Semibold"/>
              </a:rPr>
              <a:t>Summing them counts that demand five times over.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931920"/>
            <a:ext cx="6309360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3232" y="4041648"/>
            <a:ext cx="6309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The incumbent portfolio — the position actually held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20624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14181B"/>
                </a:solidFill>
                <a:latin typeface="Segoe UI Light"/>
              </a:rPr>
              <a:t>820,000 €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791456"/>
            <a:ext cx="6309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480,000 kg</a:t>
            </a:r>
            <a:r>
              <a:rPr sz="900" b="0" i="0">
                <a:solidFill>
                  <a:srgbClr val="6E7B82"/>
                </a:solidFill>
                <a:latin typeface="Segoe UI"/>
              </a:rPr>
              <a:t>  annual volume     </a:t>
            </a:r>
            <a:r>
              <a:rPr sz="900" b="0" i="0">
                <a:solidFill>
                  <a:srgbClr val="14181B"/>
                </a:solidFill>
                <a:latin typeface="Segoe UI Semibold"/>
              </a:rPr>
              <a:t>605,000 kg</a:t>
            </a:r>
            <a:r>
              <a:rPr sz="900" b="0" i="0">
                <a:solidFill>
                  <a:srgbClr val="6E7B82"/>
                </a:solidFill>
                <a:latin typeface="Segoe UI"/>
              </a:rPr>
              <a:t>  annual CO₂e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2631" y="2432304"/>
            <a:ext cx="41330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THE DEMONSTRATOR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42631" y="2670048"/>
            <a:ext cx="4133088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42631" y="276148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CASE-A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276148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Base Oils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2" y="2761488"/>
            <a:ext cx="14356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1 incumbent · 4 alternatives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0175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CASE-B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3017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Solvents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0112" y="3017520"/>
            <a:ext cx="14356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1 incumbent · 4 alternatives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1" y="327355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CASE-C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327355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Surfactants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3273552"/>
            <a:ext cx="14356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1 incumbent · 4 alternatives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1" y="3529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CASE-D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3529584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Polymer Additives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40112" y="3529584"/>
            <a:ext cx="14356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1 incumbent · 4 alternatives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2631" y="378561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CASE-E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19" y="378561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Resins / Binders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0112" y="3785616"/>
            <a:ext cx="14356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1 incumbent · 4 alternatives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42631" y="4187952"/>
            <a:ext cx="413308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COVERAGE ACROSS ALL 25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342631" y="4425696"/>
            <a:ext cx="4133088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342631" y="45171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23 / 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19" y="451713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technically eligible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59" y="4517136"/>
            <a:ext cx="822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92.0%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42631" y="47548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24 / 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9" y="475487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PCF available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52759" y="4754879"/>
            <a:ext cx="8229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96.0%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42631" y="499262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96.8%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19" y="4992623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of spend covered by a PCF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13232" y="5394960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3232" y="5504688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What the demonstrator shows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" y="5705856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The decision structure end to end: gates that screen without deleting, evidence carried beside performance, and every missing value preserved as missing.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5504688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What it does not show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5705856"/>
            <a:ext cx="5120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A validated supplier comparison. No conformance to the six §A.1 conditions is claimed, and no real supplier, market or company data is used — page 12 states exactly what is absent.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III  FROM PRINCIPLE TO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315468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315468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315468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315468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315468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5112" y="260603"/>
            <a:ext cx="2395728" cy="201168"/>
          </a:xfrm>
          <a:prstGeom prst="rect">
            <a:avLst/>
          </a:prstGeom>
          <a:noFill/>
          <a:ln w="9525"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301751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SYNTHETIC DEMONSTRATION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12064"/>
            <a:ext cx="10399471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All 25 alternatives on one surface: cost and carbon as the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analysis, technical and evidence status as exceptions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1225296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13232" y="1348740"/>
            <a:ext cx="155448" cy="137160"/>
          </a:xfrm>
          <a:prstGeom prst="rect">
            <a:avLst/>
          </a:prstGeom>
          <a:solidFill>
            <a:srgbClr val="3E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132588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improvement against the incumbent of the same 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59352" y="1348740"/>
            <a:ext cx="155448" cy="137160"/>
          </a:xfrm>
          <a:prstGeom prst="rect">
            <a:avLst/>
          </a:prstGeom>
          <a:solidFill>
            <a:srgbClr val="A3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9664" y="132588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deterioration, or a technical blocker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11112" y="1348740"/>
            <a:ext cx="155448" cy="13716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1424" y="132588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weak, outdated or missing PCF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62872" y="1348740"/>
            <a:ext cx="155448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3184" y="132588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incumbent, or normal state</a:t>
            </a:r>
          </a:p>
        </p:txBody>
      </p:sp>
      <p:pic>
        <p:nvPicPr>
          <p:cNvPr id="21" name="Picture 20" descr="page09_portfoli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36192"/>
            <a:ext cx="10765231" cy="4572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SYNTHETIC DEMONSTRATION DATA.  Report-native re-render of the Power BI Python visual (powerbi/…/visuals/99aabbccddeeff001122) — plotting logic reused verbatim; only the figure size and the chrome now supplied by this page differ.  ·  Deltas are computed against the incumbent of each case from absolute spend and CO₂e.  ·  n / a is unknown and is never read as zero  ·  ▸ marks the incumbent  ·  each case is an independent decision  ·  no score, no ranking, no weighting.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III  FROM PRINCIPLE TO ANALYTICS   ·   CASE-D  POLYMER ADDITIVES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The two strongest alternatives in this case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are the two you cannot currently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On cost and carbon the answer looks obvious. On eligibility, two of the five are not purchasable — and no performance number changes that.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SYNTHETIC DEMONSTRATION DATA.  CASE-D, all five materials, from the governed dataset via the audited measures.  ·  Eligibility is the prototype gate (technically_eligible, technical_approval_status); it is shown, never used to filter rows away — BP-1.  ·  Screening removes an option from the comparison, not from the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88152" y="406908"/>
            <a:ext cx="2395728" cy="201168"/>
          </a:xfrm>
          <a:prstGeom prst="rect">
            <a:avLst/>
          </a:prstGeom>
          <a:noFill/>
          <a:ln w="9525"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448056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SYNTHETIC DEMONSTRATION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743200"/>
            <a:ext cx="5074920" cy="2304288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280160" y="3280867"/>
            <a:ext cx="5074919" cy="0"/>
          </a:xfrm>
          <a:prstGeom prst="line">
            <a:avLst/>
          </a:prstGeom>
          <a:ln w="9525">
            <a:solidFill>
              <a:srgbClr val="6E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34102" y="2743200"/>
            <a:ext cx="0" cy="2304288"/>
          </a:xfrm>
          <a:prstGeom prst="line">
            <a:avLst/>
          </a:prstGeom>
          <a:ln w="9525">
            <a:solidFill>
              <a:srgbClr val="6E7B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371600" y="3372307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better on both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38927"/>
            <a:ext cx="5074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Cost delta % vs incumbent      cheaper ←      → dearer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52374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CO₂e delta % vs incumbent      lower carbon ↓</a:t>
            </a:r>
          </a:p>
        </p:txBody>
      </p:sp>
      <p:sp>
        <p:nvSpPr>
          <p:cNvPr id="22" name="Oval 21"/>
          <p:cNvSpPr/>
          <p:nvPr/>
        </p:nvSpPr>
        <p:spPr>
          <a:xfrm>
            <a:off x="4865522" y="3212287"/>
            <a:ext cx="137160" cy="137160"/>
          </a:xfrm>
          <a:prstGeom prst="ellipse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2118" y="3198571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PA-4001</a:t>
            </a:r>
          </a:p>
        </p:txBody>
      </p:sp>
      <p:sp>
        <p:nvSpPr>
          <p:cNvPr id="24" name="Oval 23"/>
          <p:cNvSpPr/>
          <p:nvPr/>
        </p:nvSpPr>
        <p:spPr>
          <a:xfrm>
            <a:off x="1964698" y="4705849"/>
            <a:ext cx="137160" cy="137160"/>
          </a:xfrm>
          <a:prstGeom prst="ellipse">
            <a:avLst/>
          </a:prstGeom>
          <a:solidFill>
            <a:srgbClr val="B3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61294" y="4692133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PA-4002</a:t>
            </a:r>
          </a:p>
        </p:txBody>
      </p:sp>
      <p:sp>
        <p:nvSpPr>
          <p:cNvPr id="26" name="Oval 25"/>
          <p:cNvSpPr/>
          <p:nvPr/>
        </p:nvSpPr>
        <p:spPr>
          <a:xfrm>
            <a:off x="4140823" y="3425817"/>
            <a:ext cx="137160" cy="137160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7419" y="3412101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PA-4003</a:t>
            </a:r>
          </a:p>
        </p:txBody>
      </p:sp>
      <p:sp>
        <p:nvSpPr>
          <p:cNvPr id="28" name="Oval 27"/>
          <p:cNvSpPr/>
          <p:nvPr/>
        </p:nvSpPr>
        <p:spPr>
          <a:xfrm>
            <a:off x="3416125" y="3852495"/>
            <a:ext cx="137160" cy="137160"/>
          </a:xfrm>
          <a:prstGeom prst="ellipse">
            <a:avLst/>
          </a:prstGeom>
          <a:solidFill>
            <a:srgbClr val="B33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2721" y="3838779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PA-4004</a:t>
            </a:r>
          </a:p>
        </p:txBody>
      </p:sp>
      <p:sp>
        <p:nvSpPr>
          <p:cNvPr id="30" name="Oval 29"/>
          <p:cNvSpPr/>
          <p:nvPr/>
        </p:nvSpPr>
        <p:spPr>
          <a:xfrm>
            <a:off x="5590220" y="2892375"/>
            <a:ext cx="137160" cy="137160"/>
          </a:xfrm>
          <a:prstGeom prst="ellipse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6384" y="2878659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PA-4005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61294" y="4856725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B3372C"/>
                </a:solidFill>
                <a:latin typeface="Segoe UI Semibold"/>
              </a:rPr>
              <a:t>blocked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2721" y="4003371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B3372C"/>
                </a:solidFill>
                <a:latin typeface="Segoe UI Semibold"/>
              </a:rPr>
              <a:t>blocked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2432304"/>
            <a:ext cx="44074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EVERY OPTION STAYS ON THE RECORD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68312" y="2670048"/>
            <a:ext cx="4407408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68312" y="272491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2" y="2724912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COST 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2724912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CO₂E 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1552" y="2724912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TECHNICAL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3176" y="294436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PA-4001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2" y="294436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0.00%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1432" y="294436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0.00%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1552" y="294436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Incumbent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68312" y="3186684"/>
            <a:ext cx="4407408" cy="265176"/>
          </a:xfrm>
          <a:prstGeom prst="rect">
            <a:avLst/>
          </a:prstGeom>
          <a:solidFill>
            <a:srgbClr val="F4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23176" y="321868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PA-4002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7032" y="321868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−14.29%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1432" y="321868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−38.89%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31552" y="321868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3372C"/>
                </a:solidFill>
                <a:latin typeface="Segoe UI Semibold"/>
              </a:rPr>
              <a:t>Not Approved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23176" y="349300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PA-4003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57032" y="349300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−3.57%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71432" y="349300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−5.56%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31552" y="349300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Approved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68312" y="3735324"/>
            <a:ext cx="4407408" cy="265176"/>
          </a:xfrm>
          <a:prstGeom prst="rect">
            <a:avLst/>
          </a:prstGeom>
          <a:solidFill>
            <a:srgbClr val="F4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23176" y="37673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PA-4004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7032" y="376732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−7.14%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71432" y="376732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−16.67%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6732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3372C"/>
                </a:solidFill>
                <a:latin typeface="Segoe UI Semibold"/>
              </a:rPr>
              <a:t>Under Qualification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23176" y="404164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PA-4005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57032" y="4041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+3.57%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71432" y="4041648"/>
            <a:ext cx="841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+8.33%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31552" y="404164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Approved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68312" y="4443984"/>
            <a:ext cx="4407408" cy="106070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68312" y="4443984"/>
            <a:ext cx="32004" cy="1060704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06056" y="4572000"/>
            <a:ext cx="3950208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The only eligible improver is PA-4003 — </a:t>
            </a:r>
            <a:r>
              <a:rPr sz="900" b="0" i="0">
                <a:solidFill>
                  <a:srgbClr val="3D474D"/>
                </a:solidFill>
                <a:latin typeface="Segoe UI"/>
              </a:rPr>
              <a:t>−3.57% cost and −5.56% CO₂e. That, not −14.29%, is the decision actually on the table.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00" b="0" i="0">
                <a:solidFill>
                  <a:srgbClr val="14181B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00" b="0" i="0">
                <a:solidFill>
                  <a:srgbClr val="6E7B82"/>
                </a:solidFill>
                <a:latin typeface="Segoe UI"/>
              </a:rPr>
              <a:t>PA-4004 is under qualification and may return. Both blocked options stay visible, with the reason attached.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" y="5650992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Performance cannot compensate for failed eligibility.</a:t>
            </a:r>
            <a:r>
              <a:rPr sz="900" b="0" i="0">
                <a:solidFill>
                  <a:srgbClr val="6E7B82"/>
                </a:solidFill>
                <a:latin typeface="Segoe UI"/>
              </a:rPr>
              <a:t>   A gate is passed or it is not; it is never traded off against a better number — page 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III  FROM PRINCIPLE TO ANALYTICS   ·   CASE-C  SURFACTANTS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The best carbon result rests on the weakest evidence — and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one material has no carbon figure at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All five are technically approved, so eligibility decides nothing here. Evidence decides everything — and the two are read in different columns.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SYNTHETIC DEMONSTRATION DATA.  CASE-C, all five materials, from the governed dataset via the audited measures.  ·  BP-2 an industry-average factor cannot distinguish two suppliers within the same industry  ·  BP-3 evidence quality is carried beside the number  ·  BP-4 missing is never zero  ·  P3 PACT v3  ·  A2 ISO 14044.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0952" y="406908"/>
            <a:ext cx="2395728" cy="201168"/>
          </a:xfrm>
          <a:prstGeom prst="rect">
            <a:avLst/>
          </a:prstGeom>
          <a:noFill/>
          <a:ln w="9525"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448056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SYNTHETIC DEMONSTRATION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3230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2432304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COST Δ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43230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CO₂E Δ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43230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PCF KG CO₂E /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432304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PCF DATA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4323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6416" y="243230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CONFIDENCE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2651760"/>
            <a:ext cx="10765231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274320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SF-3001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1215" y="274320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0.00%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2743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0.00%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4" y="274320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2.10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2743200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Supplier-specific (primary)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743200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6416" y="274320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High confidence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3012948"/>
            <a:ext cx="10765231" cy="301752"/>
          </a:xfrm>
          <a:prstGeom prst="rect">
            <a:avLst/>
          </a:prstGeom>
          <a:solidFill>
            <a:srgbClr val="FA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05409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SF-3002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71215" y="305409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"/>
              </a:rPr>
              <a:t>+6.25%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30540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−54.76%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9784" y="305409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"/>
              </a:rPr>
              <a:t>0.95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305409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Industry-average (secondary)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2872" y="3054096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2019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6416" y="30540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Low confidence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33649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SF-3003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71215" y="336499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"/>
              </a:rPr>
              <a:t>−8.33%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90872" y="3456432"/>
            <a:ext cx="310896" cy="18288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63056" y="3456432"/>
            <a:ext cx="310896" cy="18288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3364992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no PCF reported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64624" y="3456432"/>
            <a:ext cx="310896" cy="18288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86416" y="336499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No data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3634739"/>
            <a:ext cx="10765231" cy="30175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3675887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SF-3004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71215" y="3675887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+10.42%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7639" y="3675887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−23.81%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9784" y="367588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1.60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1968" y="3675887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Supplier-specific (primary)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2872" y="3675887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2023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86416" y="3675887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High confidence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398678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SF-3005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71215" y="398678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−2.08%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7639" y="39867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+7.14%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9784" y="398678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2.25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01968" y="3986784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Supplier-specific (primary)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62872" y="3986784"/>
            <a:ext cx="685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2023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86416" y="398678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High confidence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13232" y="4352544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713232" y="4498848"/>
            <a:ext cx="5230368" cy="106070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3232" y="4498848"/>
            <a:ext cx="32004" cy="1060704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976" y="4626864"/>
            <a:ext cx="4864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SF-3002 — the strongest carbon result in the case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" y="4846320"/>
            <a:ext cx="48646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−54.76% CO₂e, carried by the weakest evidence on the page: an industry-average factor from 2019, low confidence. An industry-average factor cannot distinguish two suppliers within the same industry. The number is not wrong — it is not yet a supplier comparison.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45352" y="4498848"/>
            <a:ext cx="5230368" cy="106070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5352" y="4498848"/>
            <a:ext cx="32004" cy="1060704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83096" y="4626864"/>
            <a:ext cx="4864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SF-3003 — no carbon figure at all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83096" y="4846320"/>
            <a:ext cx="486460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−8.33% on cost, and blank on carbon everywhere: in the measure, in the heatmap, in the case total. It is not zero, it is not a worse performer, and it is not dropped from the cost comparison. It is unknown, and it stays unknown.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3232" y="5687568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The result and the confidence in the result are two columns.</a:t>
            </a:r>
            <a:r>
              <a:rPr sz="900" b="0" i="0">
                <a:solidFill>
                  <a:srgbClr val="6E7B82"/>
                </a:solidFill>
                <a:latin typeface="Segoe UI"/>
              </a:rPr>
              <a:t>   Blending them into one figure destroys both — page 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III  FROM PRINCIPLE TO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The architecture is right; the comparison is not yet demonstrably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valid — and we know which fields would close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Page 6 set six conditions. Measured against them the demonstrator is honest about what it cannot yet support — which is exactly what makes it usable as a specification.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SYNTHETIC DEMONSTRATION DATA.  Conditions verbatim from the GHG Protocol Product Standard, Appendix A §A.1.  ·  Prototype status assessed against the fields present in the semantic model.  ·  No condition is fully satisfied today, so no status on this page is green.  ·  The closing fields are the prototype v0.2 candidate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406908"/>
            <a:ext cx="2395728" cy="201168"/>
          </a:xfrm>
          <a:prstGeom prst="rect">
            <a:avLst/>
          </a:prstGeom>
          <a:noFill/>
          <a:ln w="9525"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48056"/>
            <a:ext cx="21762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SYNTHETIC DEMONSTRATION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3230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2432304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CONDITION — GHG PROTOCOL §A.1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3" y="2432304"/>
            <a:ext cx="2788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IN THE PROTOTYPE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432304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432304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THE FIELD THAT WOULD CLOSE 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" y="2651760"/>
            <a:ext cx="10765231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13232" y="2756916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2777947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2743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The unit of analysis is identical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9663" y="275691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A per-kg declared unit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747772"/>
            <a:ext cx="1078992" cy="219456"/>
          </a:xfrm>
          <a:prstGeom prst="rect">
            <a:avLst/>
          </a:prstGeom>
          <a:solidFill>
            <a:srgbClr val="FA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78434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D99A2B"/>
                </a:solidFill>
                <a:latin typeface="Segoe UI Semibold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275691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Functional or declared unit, with the reference 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3145536"/>
            <a:ext cx="10765231" cy="43891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3214116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235147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3200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System and temporal boundaries are equivalent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9663" y="321411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No boundary or data-period field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204972"/>
            <a:ext cx="1078992" cy="219456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24154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not shown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321411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Cradle-to-gate boundary flag; data period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" y="3671315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3692347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3657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The same allocation methods are used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9663" y="3671315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No rulebook or version recorded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3662172"/>
            <a:ext cx="1078992" cy="219456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369874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not shown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21624" y="3671315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Rulebook and version — TfS, PACT, Catena-X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4059936"/>
            <a:ext cx="10765231" cy="43891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" y="4128515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4149547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" y="4114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Data types, quality and uncertainty are reported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9663" y="4128515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pcf_data_type, pcf_data_quality_tier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4119372"/>
            <a:ext cx="1078992" cy="219456"/>
          </a:xfrm>
          <a:prstGeom prst="rect">
            <a:avLst/>
          </a:prstGeom>
          <a:solidFill>
            <a:srgbClr val="FA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80" y="415594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D99A2B"/>
                </a:solidFill>
                <a:latin typeface="Segoe UI Semibold"/>
              </a:rPr>
              <a:t>partial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1624" y="4128515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Primary-data share; uncertainty range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" y="4585716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4606747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" y="45720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Temporal and geographical representativeness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9663" y="458571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pcf_reference_year — temporal only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40880" y="4576572"/>
            <a:ext cx="1078992" cy="219456"/>
          </a:xfrm>
          <a:prstGeom prst="rect">
            <a:avLst/>
          </a:prstGeom>
          <a:solidFill>
            <a:srgbClr val="FA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0880" y="461314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D99A2B"/>
                </a:solidFill>
                <a:latin typeface="Segoe UI Semibold"/>
              </a:rPr>
              <a:t>partial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21624" y="458571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Geographical representativeness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" y="4974336"/>
            <a:ext cx="10765231" cy="438912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3232" y="5042916"/>
            <a:ext cx="201168" cy="1828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" y="5063947"/>
            <a:ext cx="201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9848" y="5029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"/>
              </a:rPr>
              <a:t>Third-party assurance has been performed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69663" y="5042916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No verification field at all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40880" y="5033772"/>
            <a:ext cx="1078992" cy="219456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40880" y="5070348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not shown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21624" y="504291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Verification status and assurance level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13232" y="550468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13232" y="5614416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What the demonstrator does establish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Gates that screen without deleting, evidence carried beside performance, missing values preserved, and each case kept as a separate decision.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76872" y="5614416"/>
            <a:ext cx="45015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Closing the six conditions is a data task, not a redesign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Every field in the right-hand column is collected upstream, in the specification and the RFQ. That scope is page 16.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IV  BEYOND CARBON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More circular is not automatically more sustainable — an EU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assessment shows exactly where recovery loses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Across 27 recycling pathways and 14 impact categories, recycling beat energy recovery on climate in every pathway analysed. On five other categories, energy-intensive routes lose.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European Commission JRC, Environmental and economic assessment of plastic waste recycling, JRC132067 (2023) — executive summary read in the original; quoted wording retained.  ·  Supporting: C1 on recycling energy intensity.  ·  FACT, within the stated scope.  ·  The prototype does not measure circularity; nothing on this page comes from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432304"/>
            <a:ext cx="10765231" cy="420624"/>
          </a:xfrm>
          <a:prstGeom prst="rect">
            <a:avLst/>
          </a:prstGeom>
          <a:solidFill>
            <a:srgbClr val="FAE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432304"/>
            <a:ext cx="32004" cy="420624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519172"/>
            <a:ext cx="103080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14181B"/>
                </a:solidFill>
                <a:latin typeface="Segoe UI Semibold"/>
              </a:rPr>
              <a:t>Scope   </a:t>
            </a:r>
            <a:r>
              <a:rPr sz="900" b="0" i="0">
                <a:solidFill>
                  <a:srgbClr val="14181B"/>
                </a:solidFill>
                <a:latin typeface="Segoe UI"/>
              </a:rPr>
              <a:t>This is a plastics waste-treatment study. It demonstrates the mechanism — burden shifting between impact categories — and is not evidence about base oils, solvents, surfactants, polymer additives or resins.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962656"/>
            <a:ext cx="10765231" cy="512064"/>
          </a:xfrm>
          <a:prstGeom prst="rect">
            <a:avLst/>
          </a:prstGeom>
          <a:solidFill>
            <a:srgbClr val="D9E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2962656"/>
            <a:ext cx="32004" cy="512064"/>
          </a:xfrm>
          <a:prstGeom prst="rect">
            <a:avLst/>
          </a:prstGeom>
          <a:solidFill>
            <a:srgbClr val="3E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05866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3E8F63"/>
                </a:solidFill>
                <a:latin typeface="Segoe UI Semibold"/>
              </a:rPr>
              <a:t>CLIMATE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3054096"/>
            <a:ext cx="8387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Recycling beat energy recovery in every one of the 27 pathways analysed.</a:t>
            </a:r>
            <a:r>
              <a:rPr sz="950" b="0" i="0">
                <a:solidFill>
                  <a:srgbClr val="3D474D"/>
                </a:solidFill>
                <a:latin typeface="Segoe UI"/>
              </a:rPr>
              <a:t>   This is the finding a circularity target is usually built 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639312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WHERE ENERGY RECOVERY CAN PERFORM BETTER — FIVE OF THE FOURTEEN CATEGORIES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858768"/>
            <a:ext cx="10765231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3232" y="3950208"/>
            <a:ext cx="2057948" cy="310896"/>
          </a:xfrm>
          <a:prstGeom prst="rect">
            <a:avLst/>
          </a:prstGeom>
          <a:solidFill>
            <a:srgbClr val="F4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018788"/>
            <a:ext cx="20579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3372C"/>
                </a:solidFill>
                <a:latin typeface="Segoe UI Semibold"/>
              </a:rPr>
              <a:t>Acidification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90052" y="3950208"/>
            <a:ext cx="2057948" cy="310896"/>
          </a:xfrm>
          <a:prstGeom prst="rect">
            <a:avLst/>
          </a:prstGeom>
          <a:solidFill>
            <a:srgbClr val="F4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90052" y="4018788"/>
            <a:ext cx="20579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3372C"/>
                </a:solidFill>
                <a:latin typeface="Segoe UI Semibold"/>
              </a:rPr>
              <a:t>Particulate matter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6873" y="3950208"/>
            <a:ext cx="2057948" cy="310896"/>
          </a:xfrm>
          <a:prstGeom prst="rect">
            <a:avLst/>
          </a:prstGeom>
          <a:solidFill>
            <a:srgbClr val="F4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6873" y="4018788"/>
            <a:ext cx="20579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3372C"/>
                </a:solidFill>
                <a:latin typeface="Segoe UI Semibold"/>
              </a:rPr>
              <a:t>Ionising radiation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43693" y="3950208"/>
            <a:ext cx="2057948" cy="310896"/>
          </a:xfrm>
          <a:prstGeom prst="rect">
            <a:avLst/>
          </a:prstGeom>
          <a:solidFill>
            <a:srgbClr val="F4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3693" y="4018788"/>
            <a:ext cx="20579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3372C"/>
                </a:solidFill>
                <a:latin typeface="Segoe UI Semibold"/>
              </a:rPr>
              <a:t>Human toxicity, non-cancer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20514" y="3950208"/>
            <a:ext cx="2057948" cy="310896"/>
          </a:xfrm>
          <a:prstGeom prst="rect">
            <a:avLst/>
          </a:prstGeom>
          <a:solidFill>
            <a:srgbClr val="F4D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0514" y="4018788"/>
            <a:ext cx="20579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B3372C"/>
                </a:solidFill>
                <a:latin typeface="Segoe UI Semibold"/>
              </a:rPr>
              <a:t>Eutrophication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389120"/>
            <a:ext cx="107652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3D474D"/>
                </a:solidFill>
                <a:latin typeface="Segoe UI"/>
              </a:rPr>
              <a:t>…for these energy-intensive recycling routes, named in the assessment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608576"/>
            <a:ext cx="2057948" cy="27432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4668012"/>
            <a:ext cx="19116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PET alkaline hydrolysis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0052" y="4608576"/>
            <a:ext cx="2057948" cy="27432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63204" y="4668012"/>
            <a:ext cx="19116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PS mechanical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66873" y="4608576"/>
            <a:ext cx="2057948" cy="27432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0025" y="4668012"/>
            <a:ext cx="19116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MPO mechanical &amp; pyrolysis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3693" y="4608576"/>
            <a:ext cx="2057948" cy="27432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6845" y="4668012"/>
            <a:ext cx="19116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PE film mechanical &amp; physical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20514" y="4608576"/>
            <a:ext cx="2057948" cy="27432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93666" y="4668012"/>
            <a:ext cx="19116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EPS physical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5065776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3232" y="5175504"/>
            <a:ext cx="51206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Three further findings from the same assessment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Technical quality issues in the recovered material  ·  negative net incomes for methanolysis, pyrolysis and gasification  ·  and, across the whole study, “a clear ranking could not be established”.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45352" y="5175504"/>
            <a:ext cx="52120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And the answer has a date on it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The assessment attributes the result to the European energy mix, and states that as the mix gets cleaner the gap will widen further in favour of recycling.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IV  BEYOND CARBON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Every trade-off has its own handling rule — and none of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them is a 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The tensions are structurally different. Some resolve at a gate, some are genuine two-axis trade-offs, one is about evidence rather than performance. Not one of them needs a weighting.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T-1 to T-9: author synthesis, with the confidence recorded for each tension  ·  P2 JRC132067 “a clear ranking could not be established”  ·  P1 GHG Protocol Product Standard §1.7 on burden shifting  ·  V3 ISO 14046, V4 EU PEF  ·  BP-7.  The map is a source-supported interpretation; the individual evidence items are fact.  ·  Cost ↔ carbon quantitative figures in the register are steel-sector illustration only; no chemical-sector green-premium dataset was found in either research 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32304"/>
            <a:ext cx="2606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432304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HOW IT SHOWS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432304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3" y="2432304"/>
            <a:ext cx="3977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HANDLING RULE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" y="2651760"/>
            <a:ext cx="10765231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" y="274320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Cost ↔ carbon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275234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The cheaper option carries more carbon, or the reverse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2793492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6E7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3" y="2752344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Two axes, plus a displayed cost-per-tonne ratio — never a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2994660"/>
            <a:ext cx="10765231" cy="28346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03580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Circularity ↔ non-climate impacts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6" y="3044951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Recovery wins on climate and loses elsewhere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03720" y="3086100"/>
            <a:ext cx="91440" cy="9144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1503" y="3044951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Report as distinct outputs; any priority rule is stated per 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3284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Circularity ↔ technical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3337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Recycled content shifts the specification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3378708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1503" y="333756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Gate — recycled content is a candidate only if it passes equivalence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579876"/>
            <a:ext cx="10765231" cy="28346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621024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Circularity ↔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9856" y="36301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The break-even arrives later than the target 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3671315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1503" y="3630168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Treat the horizon as an explicit scenario, not an assumption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391363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Sustainability ↔ technical 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9856" y="39227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A carbon gain sits behind a failed approval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3963924"/>
            <a:ext cx="91440" cy="9144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61503" y="3922776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Gate. No carbon result buys past a technical blocker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" y="4165091"/>
            <a:ext cx="10765231" cy="28346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420624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Sustainability ↔ supply security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19856" y="421538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A carbon gain raises supplier concentration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03720" y="4256531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61503" y="4215383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State it beside the result; concentration needs awarded volumes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449884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Performance ↔ evidence quality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9856" y="45079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The best number has the weakest provenance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4549140"/>
            <a:ext cx="91440" cy="9144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61503" y="4507992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Two columns. Never a quality-adjusted performance figure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" y="4750308"/>
            <a:ext cx="10765231" cy="28346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479145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Carbon ↔ other environmental burdens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19856" y="4800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A GHG-only view misses the shift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03720" y="4841748"/>
            <a:ext cx="91440" cy="9144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61503" y="480060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Disclose scope. Methods exist — the constraint is supplier data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13232" y="5102352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13232" y="5207508"/>
            <a:ext cx="91440" cy="91440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" y="5175504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strongly evidenced — primary standard or EU authority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05072" y="5207508"/>
            <a:ext cx="91440" cy="91440"/>
          </a:xfrm>
          <a:prstGeom prst="rect">
            <a:avLst/>
          </a:prstGeom>
          <a:solidFill>
            <a:srgbClr val="6E7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87952" y="5175504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supported — cited, but narrower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91072" y="5207508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6E7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73952" y="5175504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project recommendation — plausible, not externally evidenced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" y="5376672"/>
            <a:ext cx="10765231" cy="658368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" y="5468112"/>
            <a:ext cx="1021659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 Semibold"/>
              </a:rPr>
              <a:t>Deliberately rejected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 i="0">
                <a:solidFill>
                  <a:srgbClr val="C6D4E0"/>
                </a:solidFill>
                <a:latin typeface="Segoe UI"/>
              </a:rPr>
              <a:t>A composite sustainability score  ·  arbitrary weighting  ·  cross-case ranking of non-substitutable materials. An EU authority reached the same conclusion in its own domain: “a clear ranking could not be established”.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V  MANAGEMENT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Four functions, one decision record, and a named owner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for every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Every practice in this report fails at the same seam: gates, commercial comparison and evidence rules sit with different functions, and each keeps its own list.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A1 ISO 20400 places sustainability criteria alongside price and quality in a single evaluation rather than in a parallel process  ·  BP-11: one comparison case, one decision record.  The ownership split and the record's field list are a PROJECT SYNTHESIS and a design recommendation: ISO 20400 supports the principle, it does not validate this artefact.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406908"/>
            <a:ext cx="3017520" cy="201168"/>
          </a:xfrm>
          <a:prstGeom prst="rect">
            <a:avLst/>
          </a:prstGeom>
          <a:noFill/>
          <a:ln w="9525"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448056"/>
            <a:ext cx="2798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 Semibold"/>
              </a:rPr>
              <a:t>PROJECT SYNTHESIS</a:t>
            </a:r>
            <a:r>
              <a:rPr sz="750" b="0" i="0">
                <a:solidFill>
                  <a:srgbClr val="6E7B82"/>
                </a:solidFill>
                <a:latin typeface="Segoe UI"/>
              </a:rPr>
              <a:t>  ·  DESIGN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32304"/>
            <a:ext cx="4983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WHO OWNS WHICH DECISION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2670048"/>
            <a:ext cx="4983480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13232" y="2779776"/>
            <a:ext cx="4983480" cy="402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779776"/>
            <a:ext cx="32004" cy="40233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82092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9946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Defines the function and validates technical equivalence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236976"/>
            <a:ext cx="4983480" cy="402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36976"/>
            <a:ext cx="32004" cy="40233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27812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Procurement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4518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Commercial terms, capacity evidence, sourcing scenarios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694176"/>
            <a:ext cx="4983480" cy="402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3694176"/>
            <a:ext cx="32004" cy="40233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73532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Sustainability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9090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Accepted methods and evidence requirements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151376"/>
            <a:ext cx="4983480" cy="402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4151376"/>
            <a:ext cx="32004" cy="40233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19252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3662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Specific legal and policy gates; the due-diligence risk process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608576"/>
            <a:ext cx="4983480" cy="402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608576"/>
            <a:ext cx="32004" cy="402336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464972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Suppliers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8234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Provide declarations and evidence — never self-approve gate status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5065776"/>
            <a:ext cx="4983480" cy="402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3232" y="5065776"/>
            <a:ext cx="32004" cy="402336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5106924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4181B"/>
                </a:solidFill>
                <a:latin typeface="Segoe UI Semibold"/>
              </a:rPr>
              <a:t>Business decision owner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2806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Accepts the residual trade-off, on the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62472" y="2432304"/>
            <a:ext cx="5422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ONE DECISION RECORD PER BENCHMARK CASE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62472" y="2670048"/>
            <a:ext cx="5422391" cy="0"/>
          </a:xfrm>
          <a:prstGeom prst="line">
            <a:avLst/>
          </a:prstGeom>
          <a:ln w="12700">
            <a:solidFill>
              <a:srgbClr val="1418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062472" y="2779776"/>
            <a:ext cx="5422392" cy="195681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1928" y="293979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64808" y="288950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Incumbent and candidates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16567" y="2889504"/>
            <a:ext cx="2221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the case, not the catalogue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81928" y="316839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311810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Gate status, with the reason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6567" y="3118104"/>
            <a:ext cx="2221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blocked options stay visible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81928" y="339699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4808" y="334670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Cost position  ·  carbon position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16567" y="3346704"/>
            <a:ext cx="2221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two axes, never merged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81928" y="362559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8" y="357530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Evidence status per number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16567" y="3575304"/>
            <a:ext cx="2221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provenance, quality, verification, uncertainty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81928" y="385419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64808" y="380390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Comparability verdict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16567" y="3803904"/>
            <a:ext cx="2221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comparable / conditional / not comparable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81928" y="408279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8" y="403250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The decision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16567" y="4032504"/>
            <a:ext cx="2221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and what was given up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81928" y="431139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64808" y="426110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Named owner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16567" y="4261104"/>
            <a:ext cx="2221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a threshold without one is an opinion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81928" y="453999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64808" y="448970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Review date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16567" y="4489704"/>
            <a:ext cx="2221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"/>
              </a:rPr>
              <a:t>the record expires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62472" y="4846320"/>
            <a:ext cx="5422392" cy="566928"/>
          </a:xfrm>
          <a:prstGeom prst="rect">
            <a:avLst/>
          </a:prstGeom>
          <a:noFill/>
          <a:ln w="9525">
            <a:solidFill>
              <a:srgbClr val="D4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81928" y="4946904"/>
            <a:ext cx="49834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A second output, not a footnote: the qualification pipeline. </a:t>
            </a:r>
            <a:r>
              <a:rPr sz="850" b="0" i="0">
                <a:solidFill>
                  <a:srgbClr val="3D474D"/>
                </a:solidFill>
                <a:latin typeface="Segoe UI"/>
              </a:rPr>
              <a:t>Which blocked candidates are worth qualifying, by when, and at whose cost.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13232" y="5559552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13232" y="5669280"/>
            <a:ext cx="107652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14181B"/>
                </a:solidFill>
                <a:latin typeface="Segoe UI Semibold"/>
              </a:rPr>
              <a:t>The prototype is not yet this artefact.</a:t>
            </a:r>
            <a:r>
              <a:rPr sz="900" b="0" i="0">
                <a:solidFill>
                  <a:srgbClr val="6E7B82"/>
                </a:solidFill>
                <a:latin typeface="Segoe UI"/>
              </a:rPr>
              <a:t>   Power BI page 2 is the closest thing that exists: it displays the decision context, but it does not capture the decision, the owner or the review date.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2062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V  MANAGEMENT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0831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89159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27487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65815" y="461772"/>
            <a:ext cx="274320" cy="68580"/>
          </a:xfrm>
          <a:prstGeom prst="rect">
            <a:avLst/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04143" y="461772"/>
            <a:ext cx="27432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658368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Two lanes to build, one list to refuse — and the gaps we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 i="0">
                <a:solidFill>
                  <a:srgbClr val="14181B"/>
                </a:solidFill>
                <a:latin typeface="Segoe UI Semibold"/>
              </a:rPr>
              <a:t>are not pretending to have 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86621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3D474D"/>
                </a:solidFill>
                <a:latin typeface="Segoe UI"/>
              </a:rPr>
              <a:t>Lane A makes the comparison already being made defensible. Lane B adds category modules where materiality justifies them. The third list is what must never be synthesised.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212848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6254496"/>
            <a:ext cx="985083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750" b="0" i="0">
                <a:solidFill>
                  <a:srgbClr val="6E7B82"/>
                </a:solidFill>
                <a:latin typeface="Segoe UI"/>
              </a:rPr>
              <a:t>Categories 1–4 and the two lanes: project synthesis  ·  limitations disclosed and not closed  ·  Lane A derives entirely from GHG Protocol Product Standard §A.1.  PROJECT SYNTHESIS, anchored on the frozen classification.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9823" y="625449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E7B82"/>
                </a:solidFill>
                <a:latin typeface="Segoe UI Semibold"/>
              </a:rPr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432304"/>
            <a:ext cx="3399434" cy="402336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482596"/>
            <a:ext cx="30885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 Semibold"/>
              </a:rPr>
              <a:t>Build now — Lane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665476"/>
            <a:ext cx="30885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C6D4E0"/>
                </a:solidFill>
                <a:latin typeface="Segoe UI"/>
              </a:rPr>
              <a:t>makes the existing comparison defensible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94660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944368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Functional / declared unit and dosage normalisation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41548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91256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Methodology rulebook and version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8843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438144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Boundary description or comparability flag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35324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685032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Primary-data share (%)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82212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931920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Verification status and 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229100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178808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Data / reference period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75988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425696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Uncertainty, or an uncertainty description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722876"/>
            <a:ext cx="68580" cy="6858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672584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Comparable / conditional / not comparable verdict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92624"/>
            <a:ext cx="33079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All eight derive from GHG Protocol §A.1 — the conditions set out on page 12.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96130" y="2432304"/>
            <a:ext cx="3399434" cy="402336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60722" y="2482596"/>
            <a:ext cx="30885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14181B"/>
                </a:solidFill>
                <a:latin typeface="Segoe UI Semibold"/>
              </a:rPr>
              <a:t>Build where material — Lane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0722" y="2665476"/>
            <a:ext cx="30885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3D474D"/>
                </a:solidFill>
                <a:latin typeface="Segoe UI"/>
              </a:rPr>
              <a:t>only where the decision can change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14418" y="2994660"/>
            <a:ext cx="68580" cy="685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9010" y="2944368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Recycled and renewable content, circularity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14418" y="3241548"/>
            <a:ext cx="68580" cy="685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9010" y="3191256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Due diligence and human-rights performance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14418" y="3488436"/>
            <a:ext cx="68580" cy="685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9010" y="3438144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Hazardous-substance legal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14418" y="3735324"/>
            <a:ext cx="68580" cy="685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9010" y="3685032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Criticality and supply resilience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14418" y="3982212"/>
            <a:ext cx="68580" cy="685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9010" y="3931920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Water, land use, biodiversity, pollution, toxicity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14418" y="4229100"/>
            <a:ext cx="68580" cy="68580"/>
          </a:xfrm>
          <a:prstGeom prst="rect">
            <a:avLst/>
          </a:prstGeom>
          <a:solidFill>
            <a:srgbClr val="BFD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9010" y="4178808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CBAM exposure where the product code is out of scope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4418" y="4992624"/>
            <a:ext cx="33079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Each gated by the materiality screen on page 3, with its own data owner and grain.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9028" y="2432304"/>
            <a:ext cx="3399434" cy="402336"/>
          </a:xfrm>
          <a:prstGeom prst="rect">
            <a:avLst/>
          </a:prstGeom>
          <a:solidFill>
            <a:srgbClr val="14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43620" y="2482596"/>
            <a:ext cx="30885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 Semibold"/>
              </a:rPr>
              <a:t>Do not 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3620" y="2665476"/>
            <a:ext cx="30885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C6D4E0"/>
                </a:solidFill>
                <a:latin typeface="Segoe UI"/>
              </a:rPr>
              <a:t>not until real data exists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7316" y="2994660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1908" y="2944368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Qualification and switching cost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7316" y="3241548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61908" y="3191256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True TCO effects on yield, energy, quality, downtime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7316" y="3488436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61908" y="3438144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Supplier capacity, ramp-up, allocation, recovery time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7316" y="3735324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61908" y="3685032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Country / supplier concentration on awarded shares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7316" y="3982212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1908" y="3931920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Toxicity, exposure and legal use status for real substances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97316" y="4229100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61908" y="4178808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Recycled / renewable chain of custody and mass balance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97316" y="4475988"/>
            <a:ext cx="68580" cy="68580"/>
          </a:xfrm>
          <a:prstGeom prst="rect">
            <a:avLst/>
          </a:prstGeom>
          <a:solidFill>
            <a:srgbClr val="D4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61908" y="4425696"/>
            <a:ext cx="31616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Responsible-sourcing findings and traceability depth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97316" y="4992624"/>
            <a:ext cx="33079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6E7B82"/>
                </a:solidFill>
                <a:latin typeface="Segoe UI Semibold"/>
              </a:rPr>
              <a:t>Synthesising any of these would demonstrate columns, not capability.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13232" y="5431536"/>
            <a:ext cx="10765231" cy="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13232" y="5522976"/>
            <a:ext cx="5166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Research limitations — disclosed, not closed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No industrial chemical-procurement case  ·  no empirical study of how far real supplier PCFs diverge when the six conditions are violated  ·  TfS v3 and Catena-X v4 not read in full  ·  no company-level resilience metric set  ·  no chemical-sector green-premium dataset.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45352" y="5522976"/>
            <a:ext cx="5212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14181B"/>
                </a:solidFill>
                <a:latin typeface="Segoe UI Semibold"/>
              </a:rPr>
              <a:t>Implementation prerequisites — not defects in the method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850" b="0" i="0">
                <a:solidFill>
                  <a:srgbClr val="3D474D"/>
                </a:solidFill>
                <a:latin typeface="Segoe UI"/>
              </a:rPr>
              <a:t>Every Lane A field is collected upstream, in the specification and the RFQ. Comparability is engineered there — it cannot be repaired downstream in the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Sustainable Raw Material Benchmarking</dc:title>
  <dc:subject/>
  <dc:creator>Csaba Bakay</dc:creator>
  <cp:keywords/>
  <dc:description/>
  <cp:lastModifiedBy>Csaba Bakay</cp:lastModifiedBy>
  <cp:revision>1</cp:revision>
  <dcterms:created xsi:type="dcterms:W3CDTF">2013-01-27T09:14:16Z</dcterms:created>
  <dcterms:modified xsi:type="dcterms:W3CDTF">2013-01-27T09:15:58Z</dcterms:modified>
  <cp:category/>
</cp:coreProperties>
</file>